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4" r:id="rId7"/>
    <p:sldId id="262" r:id="rId8"/>
    <p:sldId id="260" r:id="rId9"/>
    <p:sldId id="261" r:id="rId10"/>
    <p:sldId id="270" r:id="rId11"/>
    <p:sldId id="272" r:id="rId12"/>
    <p:sldId id="276" r:id="rId13"/>
    <p:sldId id="277" r:id="rId14"/>
    <p:sldId id="274" r:id="rId15"/>
    <p:sldId id="275" r:id="rId16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946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5B2D8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15570">
              <a:lnSpc>
                <a:spcPts val="1760"/>
              </a:lnSpc>
            </a:pPr>
            <a:r>
              <a:rPr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Artificial</a:t>
            </a:r>
            <a:r>
              <a:rPr spc="-45" dirty="0"/>
              <a:t> </a:t>
            </a:r>
            <a:r>
              <a:rPr dirty="0"/>
              <a:t>Intelligence</a:t>
            </a:r>
            <a:r>
              <a:rPr spc="-5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Machine</a:t>
            </a:r>
            <a:r>
              <a:rPr spc="-45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49530">
              <a:lnSpc>
                <a:spcPts val="1760"/>
              </a:lnSpc>
            </a:pPr>
            <a:r>
              <a:rPr dirty="0"/>
              <a:t>Final</a:t>
            </a:r>
            <a:r>
              <a:rPr spc="-35" dirty="0"/>
              <a:t> </a:t>
            </a:r>
            <a:r>
              <a:rPr spc="-10" dirty="0"/>
              <a:t>review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5B2D8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15570">
              <a:lnSpc>
                <a:spcPts val="1760"/>
              </a:lnSpc>
            </a:pPr>
            <a:r>
              <a:rPr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Artificial</a:t>
            </a:r>
            <a:r>
              <a:rPr spc="-45" dirty="0"/>
              <a:t> </a:t>
            </a:r>
            <a:r>
              <a:rPr dirty="0"/>
              <a:t>Intelligence</a:t>
            </a:r>
            <a:r>
              <a:rPr spc="-5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Machine</a:t>
            </a:r>
            <a:r>
              <a:rPr spc="-45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49530">
              <a:lnSpc>
                <a:spcPts val="1760"/>
              </a:lnSpc>
            </a:pPr>
            <a:r>
              <a:rPr dirty="0"/>
              <a:t>Final</a:t>
            </a:r>
            <a:r>
              <a:rPr spc="-35" dirty="0"/>
              <a:t> </a:t>
            </a:r>
            <a:r>
              <a:rPr spc="-10" dirty="0"/>
              <a:t>review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5B2D8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158663" y="2666685"/>
            <a:ext cx="6209665" cy="5821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5B2D8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15570">
              <a:lnSpc>
                <a:spcPts val="1760"/>
              </a:lnSpc>
            </a:pPr>
            <a:r>
              <a:rPr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Artificial</a:t>
            </a:r>
            <a:r>
              <a:rPr spc="-45" dirty="0"/>
              <a:t> </a:t>
            </a:r>
            <a:r>
              <a:rPr dirty="0"/>
              <a:t>Intelligence</a:t>
            </a:r>
            <a:r>
              <a:rPr spc="-5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Machine</a:t>
            </a:r>
            <a:r>
              <a:rPr spc="-45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49530">
              <a:lnSpc>
                <a:spcPts val="1760"/>
              </a:lnSpc>
            </a:pPr>
            <a:r>
              <a:rPr dirty="0"/>
              <a:t>Final</a:t>
            </a:r>
            <a:r>
              <a:rPr spc="-35" dirty="0"/>
              <a:t> </a:t>
            </a:r>
            <a:r>
              <a:rPr spc="-10" dirty="0"/>
              <a:t>review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5B2D8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15570">
              <a:lnSpc>
                <a:spcPts val="1760"/>
              </a:lnSpc>
            </a:pPr>
            <a:r>
              <a:rPr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Artificial</a:t>
            </a:r>
            <a:r>
              <a:rPr spc="-45" dirty="0"/>
              <a:t> </a:t>
            </a:r>
            <a:r>
              <a:rPr dirty="0"/>
              <a:t>Intelligence</a:t>
            </a:r>
            <a:r>
              <a:rPr spc="-5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Machine</a:t>
            </a:r>
            <a:r>
              <a:rPr spc="-45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49530">
              <a:lnSpc>
                <a:spcPts val="1760"/>
              </a:lnSpc>
            </a:pPr>
            <a:r>
              <a:rPr dirty="0"/>
              <a:t>Final</a:t>
            </a:r>
            <a:r>
              <a:rPr spc="-35" dirty="0"/>
              <a:t> </a:t>
            </a:r>
            <a:r>
              <a:rPr spc="-10" dirty="0"/>
              <a:t>review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15570">
              <a:lnSpc>
                <a:spcPts val="1760"/>
              </a:lnSpc>
            </a:pPr>
            <a:r>
              <a:rPr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Artificial</a:t>
            </a:r>
            <a:r>
              <a:rPr spc="-45" dirty="0"/>
              <a:t> </a:t>
            </a:r>
            <a:r>
              <a:rPr dirty="0"/>
              <a:t>Intelligence</a:t>
            </a:r>
            <a:r>
              <a:rPr spc="-5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Machine</a:t>
            </a:r>
            <a:r>
              <a:rPr spc="-45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49530">
              <a:lnSpc>
                <a:spcPts val="1760"/>
              </a:lnSpc>
            </a:pPr>
            <a:r>
              <a:rPr dirty="0"/>
              <a:t>Final</a:t>
            </a:r>
            <a:r>
              <a:rPr spc="-35" dirty="0"/>
              <a:t> </a:t>
            </a:r>
            <a:r>
              <a:rPr spc="-10" dirty="0"/>
              <a:t>review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8463" y="459486"/>
            <a:ext cx="1234440" cy="1234440"/>
          </a:xfrm>
          <a:custGeom>
            <a:avLst/>
            <a:gdLst/>
            <a:ahLst/>
            <a:cxnLst/>
            <a:rect l="l" t="t" r="r" b="b"/>
            <a:pathLst>
              <a:path w="1234439" h="1234439">
                <a:moveTo>
                  <a:pt x="617220" y="1234439"/>
                </a:moveTo>
                <a:lnTo>
                  <a:pt x="568982" y="1232583"/>
                </a:lnTo>
                <a:lnTo>
                  <a:pt x="521760" y="1227103"/>
                </a:lnTo>
                <a:lnTo>
                  <a:pt x="475691" y="1218139"/>
                </a:lnTo>
                <a:lnTo>
                  <a:pt x="430912" y="1205827"/>
                </a:lnTo>
                <a:lnTo>
                  <a:pt x="387561" y="1190304"/>
                </a:lnTo>
                <a:lnTo>
                  <a:pt x="345774" y="1171708"/>
                </a:lnTo>
                <a:lnTo>
                  <a:pt x="305689" y="1150175"/>
                </a:lnTo>
                <a:lnTo>
                  <a:pt x="267442" y="1125843"/>
                </a:lnTo>
                <a:lnTo>
                  <a:pt x="231172" y="1098849"/>
                </a:lnTo>
                <a:lnTo>
                  <a:pt x="197015" y="1069330"/>
                </a:lnTo>
                <a:lnTo>
                  <a:pt x="165109" y="1037424"/>
                </a:lnTo>
                <a:lnTo>
                  <a:pt x="135590" y="1003267"/>
                </a:lnTo>
                <a:lnTo>
                  <a:pt x="108596" y="966997"/>
                </a:lnTo>
                <a:lnTo>
                  <a:pt x="84264" y="928750"/>
                </a:lnTo>
                <a:lnTo>
                  <a:pt x="62731" y="888665"/>
                </a:lnTo>
                <a:lnTo>
                  <a:pt x="44135" y="846878"/>
                </a:lnTo>
                <a:lnTo>
                  <a:pt x="28612" y="803527"/>
                </a:lnTo>
                <a:lnTo>
                  <a:pt x="16300" y="758748"/>
                </a:lnTo>
                <a:lnTo>
                  <a:pt x="7336" y="712679"/>
                </a:lnTo>
                <a:lnTo>
                  <a:pt x="1856" y="665457"/>
                </a:lnTo>
                <a:lnTo>
                  <a:pt x="0" y="617219"/>
                </a:lnTo>
                <a:lnTo>
                  <a:pt x="1856" y="568982"/>
                </a:lnTo>
                <a:lnTo>
                  <a:pt x="7336" y="521760"/>
                </a:lnTo>
                <a:lnTo>
                  <a:pt x="16300" y="475691"/>
                </a:lnTo>
                <a:lnTo>
                  <a:pt x="28612" y="430912"/>
                </a:lnTo>
                <a:lnTo>
                  <a:pt x="44135" y="387561"/>
                </a:lnTo>
                <a:lnTo>
                  <a:pt x="62731" y="345774"/>
                </a:lnTo>
                <a:lnTo>
                  <a:pt x="84264" y="305688"/>
                </a:lnTo>
                <a:lnTo>
                  <a:pt x="108596" y="267442"/>
                </a:lnTo>
                <a:lnTo>
                  <a:pt x="135590" y="231172"/>
                </a:lnTo>
                <a:lnTo>
                  <a:pt x="165109" y="197015"/>
                </a:lnTo>
                <a:lnTo>
                  <a:pt x="197015" y="165109"/>
                </a:lnTo>
                <a:lnTo>
                  <a:pt x="231172" y="135590"/>
                </a:lnTo>
                <a:lnTo>
                  <a:pt x="267442" y="108596"/>
                </a:lnTo>
                <a:lnTo>
                  <a:pt x="305689" y="84264"/>
                </a:lnTo>
                <a:lnTo>
                  <a:pt x="345774" y="62731"/>
                </a:lnTo>
                <a:lnTo>
                  <a:pt x="387561" y="44135"/>
                </a:lnTo>
                <a:lnTo>
                  <a:pt x="430912" y="28612"/>
                </a:lnTo>
                <a:lnTo>
                  <a:pt x="475691" y="16300"/>
                </a:lnTo>
                <a:lnTo>
                  <a:pt x="521760" y="7336"/>
                </a:lnTo>
                <a:lnTo>
                  <a:pt x="568982" y="1856"/>
                </a:lnTo>
                <a:lnTo>
                  <a:pt x="617220" y="0"/>
                </a:lnTo>
                <a:lnTo>
                  <a:pt x="665457" y="1856"/>
                </a:lnTo>
                <a:lnTo>
                  <a:pt x="712679" y="7336"/>
                </a:lnTo>
                <a:lnTo>
                  <a:pt x="758748" y="16300"/>
                </a:lnTo>
                <a:lnTo>
                  <a:pt x="803527" y="28612"/>
                </a:lnTo>
                <a:lnTo>
                  <a:pt x="846878" y="44135"/>
                </a:lnTo>
                <a:lnTo>
                  <a:pt x="888665" y="62731"/>
                </a:lnTo>
                <a:lnTo>
                  <a:pt x="928751" y="84264"/>
                </a:lnTo>
                <a:lnTo>
                  <a:pt x="966997" y="108596"/>
                </a:lnTo>
                <a:lnTo>
                  <a:pt x="1003267" y="135590"/>
                </a:lnTo>
                <a:lnTo>
                  <a:pt x="1037424" y="165109"/>
                </a:lnTo>
                <a:lnTo>
                  <a:pt x="1069330" y="197015"/>
                </a:lnTo>
                <a:lnTo>
                  <a:pt x="1098849" y="231172"/>
                </a:lnTo>
                <a:lnTo>
                  <a:pt x="1125843" y="267442"/>
                </a:lnTo>
                <a:lnTo>
                  <a:pt x="1150175" y="305688"/>
                </a:lnTo>
                <a:lnTo>
                  <a:pt x="1171708" y="345774"/>
                </a:lnTo>
                <a:lnTo>
                  <a:pt x="1190304" y="387561"/>
                </a:lnTo>
                <a:lnTo>
                  <a:pt x="1205827" y="430912"/>
                </a:lnTo>
                <a:lnTo>
                  <a:pt x="1218139" y="475691"/>
                </a:lnTo>
                <a:lnTo>
                  <a:pt x="1227104" y="521760"/>
                </a:lnTo>
                <a:lnTo>
                  <a:pt x="1232583" y="568982"/>
                </a:lnTo>
                <a:lnTo>
                  <a:pt x="1234440" y="617219"/>
                </a:lnTo>
                <a:lnTo>
                  <a:pt x="1232583" y="665457"/>
                </a:lnTo>
                <a:lnTo>
                  <a:pt x="1227104" y="712679"/>
                </a:lnTo>
                <a:lnTo>
                  <a:pt x="1218139" y="758748"/>
                </a:lnTo>
                <a:lnTo>
                  <a:pt x="1205827" y="803527"/>
                </a:lnTo>
                <a:lnTo>
                  <a:pt x="1190304" y="846878"/>
                </a:lnTo>
                <a:lnTo>
                  <a:pt x="1171708" y="888665"/>
                </a:lnTo>
                <a:lnTo>
                  <a:pt x="1150175" y="928750"/>
                </a:lnTo>
                <a:lnTo>
                  <a:pt x="1125843" y="966997"/>
                </a:lnTo>
                <a:lnTo>
                  <a:pt x="1098849" y="1003267"/>
                </a:lnTo>
                <a:lnTo>
                  <a:pt x="1069330" y="1037424"/>
                </a:lnTo>
                <a:lnTo>
                  <a:pt x="1037424" y="1069330"/>
                </a:lnTo>
                <a:lnTo>
                  <a:pt x="1003267" y="1098849"/>
                </a:lnTo>
                <a:lnTo>
                  <a:pt x="966997" y="1125843"/>
                </a:lnTo>
                <a:lnTo>
                  <a:pt x="928751" y="1150175"/>
                </a:lnTo>
                <a:lnTo>
                  <a:pt x="888665" y="1171708"/>
                </a:lnTo>
                <a:lnTo>
                  <a:pt x="846878" y="1190304"/>
                </a:lnTo>
                <a:lnTo>
                  <a:pt x="803527" y="1205827"/>
                </a:lnTo>
                <a:lnTo>
                  <a:pt x="758748" y="1218139"/>
                </a:lnTo>
                <a:lnTo>
                  <a:pt x="712679" y="1227103"/>
                </a:lnTo>
                <a:lnTo>
                  <a:pt x="665457" y="1232583"/>
                </a:lnTo>
                <a:lnTo>
                  <a:pt x="617220" y="1234439"/>
                </a:lnTo>
                <a:close/>
              </a:path>
            </a:pathLst>
          </a:custGeom>
          <a:solidFill>
            <a:srgbClr val="F5C4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0202" y="359146"/>
            <a:ext cx="10764046" cy="11472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5B2D8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536579" y="3114437"/>
            <a:ext cx="8601710" cy="6035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2205255" y="9497579"/>
            <a:ext cx="5010745" cy="4019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15570">
              <a:lnSpc>
                <a:spcPts val="1760"/>
              </a:lnSpc>
            </a:pPr>
            <a:r>
              <a:rPr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Artificial</a:t>
            </a:r>
            <a:r>
              <a:rPr spc="-45" dirty="0"/>
              <a:t> </a:t>
            </a:r>
            <a:r>
              <a:rPr dirty="0"/>
              <a:t>Intelligence</a:t>
            </a:r>
            <a:r>
              <a:rPr spc="-5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Machine</a:t>
            </a:r>
            <a:r>
              <a:rPr spc="-45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246700" y="9563234"/>
            <a:ext cx="1079192" cy="339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49530">
              <a:lnSpc>
                <a:spcPts val="1760"/>
              </a:lnSpc>
            </a:pPr>
            <a:r>
              <a:rPr dirty="0"/>
              <a:t>Final</a:t>
            </a:r>
            <a:r>
              <a:rPr spc="-35" dirty="0"/>
              <a:t> </a:t>
            </a:r>
            <a:r>
              <a:rPr spc="-10" dirty="0"/>
              <a:t>review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2042775" h="10287000">
                <a:moveTo>
                  <a:pt x="0" y="10286999"/>
                </a:moveTo>
                <a:lnTo>
                  <a:pt x="12042646" y="10286999"/>
                </a:lnTo>
                <a:lnTo>
                  <a:pt x="12042646" y="0"/>
                </a:lnTo>
                <a:lnTo>
                  <a:pt x="0" y="0"/>
                </a:lnTo>
                <a:lnTo>
                  <a:pt x="0" y="10286999"/>
                </a:lnTo>
                <a:close/>
              </a:path>
            </a:pathLst>
          </a:custGeom>
          <a:solidFill>
            <a:srgbClr val="5B2D8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754379" y="391887"/>
            <a:ext cx="4114800" cy="1597025"/>
            <a:chOff x="754379" y="391887"/>
            <a:chExt cx="4114800" cy="1597025"/>
          </a:xfrm>
        </p:grpSpPr>
        <p:sp>
          <p:nvSpPr>
            <p:cNvPr id="8" name="object 8"/>
            <p:cNvSpPr/>
            <p:nvPr/>
          </p:nvSpPr>
          <p:spPr>
            <a:xfrm>
              <a:off x="754379" y="391887"/>
              <a:ext cx="4114800" cy="1597025"/>
            </a:xfrm>
            <a:custGeom>
              <a:avLst/>
              <a:gdLst/>
              <a:ahLst/>
              <a:cxnLst/>
              <a:rect l="l" t="t" r="r" b="b"/>
              <a:pathLst>
                <a:path w="4114800" h="1597025">
                  <a:moveTo>
                    <a:pt x="3950207" y="1596932"/>
                  </a:moveTo>
                  <a:lnTo>
                    <a:pt x="164591" y="1596932"/>
                  </a:lnTo>
                  <a:lnTo>
                    <a:pt x="120848" y="1589724"/>
                  </a:lnTo>
                  <a:lnTo>
                    <a:pt x="81533" y="1569383"/>
                  </a:lnTo>
                  <a:lnTo>
                    <a:pt x="48220" y="1537835"/>
                  </a:lnTo>
                  <a:lnTo>
                    <a:pt x="22478" y="1497007"/>
                  </a:lnTo>
                  <a:lnTo>
                    <a:pt x="5881" y="1448825"/>
                  </a:lnTo>
                  <a:lnTo>
                    <a:pt x="0" y="1395214"/>
                  </a:lnTo>
                  <a:lnTo>
                    <a:pt x="0" y="201717"/>
                  </a:lnTo>
                  <a:lnTo>
                    <a:pt x="5881" y="148107"/>
                  </a:lnTo>
                  <a:lnTo>
                    <a:pt x="22478" y="99925"/>
                  </a:lnTo>
                  <a:lnTo>
                    <a:pt x="48220" y="59097"/>
                  </a:lnTo>
                  <a:lnTo>
                    <a:pt x="81533" y="27549"/>
                  </a:lnTo>
                  <a:lnTo>
                    <a:pt x="120848" y="7208"/>
                  </a:lnTo>
                  <a:lnTo>
                    <a:pt x="164591" y="0"/>
                  </a:lnTo>
                  <a:lnTo>
                    <a:pt x="3950207" y="0"/>
                  </a:lnTo>
                  <a:lnTo>
                    <a:pt x="3993951" y="7208"/>
                  </a:lnTo>
                  <a:lnTo>
                    <a:pt x="4033265" y="27549"/>
                  </a:lnTo>
                  <a:lnTo>
                    <a:pt x="4066579" y="59097"/>
                  </a:lnTo>
                  <a:lnTo>
                    <a:pt x="4092320" y="99925"/>
                  </a:lnTo>
                  <a:lnTo>
                    <a:pt x="4108917" y="148107"/>
                  </a:lnTo>
                  <a:lnTo>
                    <a:pt x="4114799" y="201717"/>
                  </a:lnTo>
                  <a:lnTo>
                    <a:pt x="4114799" y="1395214"/>
                  </a:lnTo>
                  <a:lnTo>
                    <a:pt x="4108917" y="1448825"/>
                  </a:lnTo>
                  <a:lnTo>
                    <a:pt x="4092320" y="1497007"/>
                  </a:lnTo>
                  <a:lnTo>
                    <a:pt x="4066579" y="1537835"/>
                  </a:lnTo>
                  <a:lnTo>
                    <a:pt x="4033265" y="1569383"/>
                  </a:lnTo>
                  <a:lnTo>
                    <a:pt x="3993951" y="1589724"/>
                  </a:lnTo>
                  <a:lnTo>
                    <a:pt x="3950207" y="15969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399" y="556479"/>
              <a:ext cx="3647992" cy="143234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41679" y="2637155"/>
            <a:ext cx="976503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b="1" spc="125" dirty="0">
                <a:solidFill>
                  <a:srgbClr val="F5C417"/>
                </a:solidFill>
                <a:latin typeface="Arial"/>
                <a:cs typeface="Arial"/>
              </a:rPr>
              <a:t>DEPARTMENT</a:t>
            </a:r>
            <a:r>
              <a:rPr sz="1950" b="1" spc="310" dirty="0">
                <a:solidFill>
                  <a:srgbClr val="F5C417"/>
                </a:solidFill>
                <a:latin typeface="Arial"/>
                <a:cs typeface="Arial"/>
              </a:rPr>
              <a:t> </a:t>
            </a:r>
            <a:r>
              <a:rPr sz="1950" b="1" spc="75" dirty="0">
                <a:solidFill>
                  <a:srgbClr val="F5C417"/>
                </a:solidFill>
                <a:latin typeface="Arial"/>
                <a:cs typeface="Arial"/>
              </a:rPr>
              <a:t>OF</a:t>
            </a:r>
            <a:r>
              <a:rPr sz="1950" b="1" spc="315" dirty="0">
                <a:solidFill>
                  <a:srgbClr val="F5C417"/>
                </a:solidFill>
                <a:latin typeface="Arial"/>
                <a:cs typeface="Arial"/>
              </a:rPr>
              <a:t> </a:t>
            </a:r>
            <a:r>
              <a:rPr sz="1950" b="1" spc="125" dirty="0">
                <a:solidFill>
                  <a:srgbClr val="F5C417"/>
                </a:solidFill>
                <a:latin typeface="Arial"/>
                <a:cs typeface="Arial"/>
              </a:rPr>
              <a:t>ARTIFICIAL</a:t>
            </a:r>
            <a:r>
              <a:rPr sz="1950" b="1" spc="315" dirty="0">
                <a:solidFill>
                  <a:srgbClr val="F5C417"/>
                </a:solidFill>
                <a:latin typeface="Arial"/>
                <a:cs typeface="Arial"/>
              </a:rPr>
              <a:t> </a:t>
            </a:r>
            <a:r>
              <a:rPr sz="1950" b="1" spc="130" dirty="0">
                <a:solidFill>
                  <a:srgbClr val="F5C417"/>
                </a:solidFill>
                <a:latin typeface="Arial"/>
                <a:cs typeface="Arial"/>
              </a:rPr>
              <a:t>INTELLIGENCE</a:t>
            </a:r>
            <a:r>
              <a:rPr sz="1950" b="1" spc="315" dirty="0">
                <a:solidFill>
                  <a:srgbClr val="F5C417"/>
                </a:solidFill>
                <a:latin typeface="Arial"/>
                <a:cs typeface="Arial"/>
              </a:rPr>
              <a:t> </a:t>
            </a:r>
            <a:r>
              <a:rPr sz="1950" b="1" spc="85" dirty="0">
                <a:solidFill>
                  <a:srgbClr val="F5C417"/>
                </a:solidFill>
                <a:latin typeface="Arial"/>
                <a:cs typeface="Arial"/>
              </a:rPr>
              <a:t>AND</a:t>
            </a:r>
            <a:r>
              <a:rPr sz="1950" b="1" spc="310" dirty="0">
                <a:solidFill>
                  <a:srgbClr val="F5C417"/>
                </a:solidFill>
                <a:latin typeface="Arial"/>
                <a:cs typeface="Arial"/>
              </a:rPr>
              <a:t> </a:t>
            </a:r>
            <a:r>
              <a:rPr sz="1950" b="1" spc="114" dirty="0">
                <a:solidFill>
                  <a:srgbClr val="F5C417"/>
                </a:solidFill>
                <a:latin typeface="Arial"/>
                <a:cs typeface="Arial"/>
              </a:rPr>
              <a:t>MACHINE</a:t>
            </a:r>
            <a:r>
              <a:rPr sz="1950" b="1" spc="315" dirty="0">
                <a:solidFill>
                  <a:srgbClr val="F5C417"/>
                </a:solidFill>
                <a:latin typeface="Arial"/>
                <a:cs typeface="Arial"/>
              </a:rPr>
              <a:t> </a:t>
            </a:r>
            <a:r>
              <a:rPr sz="1950" b="1" spc="110" dirty="0">
                <a:solidFill>
                  <a:srgbClr val="F5C417"/>
                </a:solidFill>
                <a:latin typeface="Arial"/>
                <a:cs typeface="Arial"/>
              </a:rPr>
              <a:t>LEARNING</a:t>
            </a:r>
            <a:endParaRPr sz="195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95527" y="3360420"/>
            <a:ext cx="1234440" cy="82550"/>
          </a:xfrm>
          <a:custGeom>
            <a:avLst/>
            <a:gdLst/>
            <a:ahLst/>
            <a:cxnLst/>
            <a:rect l="l" t="t" r="r" b="b"/>
            <a:pathLst>
              <a:path w="1234439" h="82550">
                <a:moveTo>
                  <a:pt x="1234440" y="82296"/>
                </a:moveTo>
                <a:lnTo>
                  <a:pt x="0" y="82296"/>
                </a:lnTo>
                <a:lnTo>
                  <a:pt x="0" y="0"/>
                </a:lnTo>
                <a:lnTo>
                  <a:pt x="1234440" y="0"/>
                </a:lnTo>
                <a:lnTo>
                  <a:pt x="1234440" y="82296"/>
                </a:lnTo>
                <a:close/>
              </a:path>
            </a:pathLst>
          </a:custGeom>
          <a:solidFill>
            <a:srgbClr val="F5C4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741679" y="3846135"/>
            <a:ext cx="9954260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3000" dirty="0">
                <a:solidFill>
                  <a:srgbClr val="FFFFFF"/>
                </a:solidFill>
              </a:rPr>
              <a:t>AGENTTRADE: A BULL-BEAR DEBATE DRIVEN MULTI-AGENT FRAMEWORK FOR STOCK ANALYSIS AND RISK-CONTROLLED PAPER TRADING</a:t>
            </a:r>
            <a:endParaRPr sz="3000" dirty="0"/>
          </a:p>
        </p:txBody>
      </p:sp>
      <p:sp>
        <p:nvSpPr>
          <p:cNvPr id="16" name="object 16"/>
          <p:cNvSpPr txBox="1"/>
          <p:nvPr/>
        </p:nvSpPr>
        <p:spPr>
          <a:xfrm>
            <a:off x="974851" y="6249523"/>
            <a:ext cx="16246349" cy="1887696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2500" b="1" spc="175" dirty="0">
                <a:solidFill>
                  <a:srgbClr val="F5C417"/>
                </a:solidFill>
                <a:latin typeface="Arial"/>
                <a:cs typeface="Arial"/>
              </a:rPr>
              <a:t>Team</a:t>
            </a:r>
            <a:r>
              <a:rPr sz="2500" b="1" spc="515" dirty="0">
                <a:solidFill>
                  <a:srgbClr val="F5C417"/>
                </a:solidFill>
                <a:latin typeface="Arial"/>
                <a:cs typeface="Arial"/>
              </a:rPr>
              <a:t> </a:t>
            </a:r>
            <a:r>
              <a:rPr sz="2500" b="1" spc="190" dirty="0">
                <a:solidFill>
                  <a:srgbClr val="F5C417"/>
                </a:solidFill>
                <a:latin typeface="Arial"/>
                <a:cs typeface="Arial"/>
              </a:rPr>
              <a:t>Members</a:t>
            </a:r>
            <a:endParaRPr sz="2500" dirty="0">
              <a:latin typeface="Arial"/>
              <a:cs typeface="Arial"/>
            </a:endParaRPr>
          </a:p>
          <a:p>
            <a:pPr marL="254635" marR="5080">
              <a:lnSpc>
                <a:spcPct val="100000"/>
              </a:lnSpc>
              <a:spcBef>
                <a:spcPts val="1495"/>
              </a:spcBef>
            </a:pPr>
            <a:r>
              <a:rPr lang="en-IN" sz="3100" spc="-10" dirty="0">
                <a:solidFill>
                  <a:srgbClr val="FFFFFF"/>
                </a:solidFill>
                <a:latin typeface="Arial MT"/>
                <a:cs typeface="Arial MT"/>
              </a:rPr>
              <a:t>NISHA S</a:t>
            </a:r>
            <a:r>
              <a:rPr sz="3100" spc="-10" dirty="0">
                <a:solidFill>
                  <a:srgbClr val="FFFFFF"/>
                </a:solidFill>
                <a:latin typeface="Arial MT"/>
                <a:cs typeface="Arial MT"/>
              </a:rPr>
              <a:t> (231501</a:t>
            </a:r>
            <a:r>
              <a:rPr lang="en-IN" sz="3100" spc="-10" dirty="0">
                <a:solidFill>
                  <a:srgbClr val="FFFFFF"/>
                </a:solidFill>
                <a:latin typeface="Arial MT"/>
                <a:cs typeface="Arial MT"/>
              </a:rPr>
              <a:t>112</a:t>
            </a:r>
            <a:r>
              <a:rPr sz="3100" spc="-10" dirty="0">
                <a:solidFill>
                  <a:srgbClr val="FFFFFF"/>
                </a:solidFill>
                <a:latin typeface="Arial MT"/>
                <a:cs typeface="Arial MT"/>
              </a:rPr>
              <a:t>) </a:t>
            </a:r>
            <a:endParaRPr lang="en-IN" sz="3100" spc="-10" dirty="0">
              <a:solidFill>
                <a:srgbClr val="FFFFFF"/>
              </a:solidFill>
              <a:latin typeface="Arial MT"/>
              <a:cs typeface="Arial MT"/>
            </a:endParaRPr>
          </a:p>
          <a:p>
            <a:pPr marL="254635" marR="5080">
              <a:lnSpc>
                <a:spcPct val="100000"/>
              </a:lnSpc>
              <a:spcBef>
                <a:spcPts val="1495"/>
              </a:spcBef>
            </a:pPr>
            <a:r>
              <a:rPr lang="en-IN" sz="3100" spc="-10" dirty="0">
                <a:solidFill>
                  <a:srgbClr val="FFFFFF"/>
                </a:solidFill>
                <a:latin typeface="Arial MT"/>
                <a:cs typeface="Arial MT"/>
              </a:rPr>
              <a:t>DONEESWARAN J</a:t>
            </a:r>
            <a:r>
              <a:rPr sz="3100" spc="-10" dirty="0">
                <a:solidFill>
                  <a:srgbClr val="FFFFFF"/>
                </a:solidFill>
                <a:latin typeface="Arial MT"/>
                <a:cs typeface="Arial MT"/>
              </a:rPr>
              <a:t> (23150</a:t>
            </a:r>
            <a:r>
              <a:rPr lang="en-IN" sz="3100" spc="-10" dirty="0">
                <a:solidFill>
                  <a:srgbClr val="FFFFFF"/>
                </a:solidFill>
                <a:latin typeface="Arial MT"/>
                <a:cs typeface="Arial MT"/>
              </a:rPr>
              <a:t>1502</a:t>
            </a:r>
            <a:r>
              <a:rPr sz="3100" spc="-10" dirty="0">
                <a:solidFill>
                  <a:srgbClr val="FFFFFF"/>
                </a:solidFill>
                <a:latin typeface="Arial MT"/>
                <a:cs typeface="Arial MT"/>
              </a:rPr>
              <a:t>)</a:t>
            </a:r>
            <a:endParaRPr sz="31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77561" y="749519"/>
            <a:ext cx="55810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dirty="0">
                <a:solidFill>
                  <a:srgbClr val="5B2D8E"/>
                </a:solidFill>
                <a:latin typeface="Arial"/>
                <a:cs typeface="Arial"/>
              </a:rPr>
              <a:t>Problem</a:t>
            </a:r>
            <a:r>
              <a:rPr sz="4800" b="1" spc="-195" dirty="0">
                <a:solidFill>
                  <a:srgbClr val="5B2D8E"/>
                </a:solidFill>
                <a:latin typeface="Arial"/>
                <a:cs typeface="Arial"/>
              </a:rPr>
              <a:t> </a:t>
            </a:r>
            <a:r>
              <a:rPr sz="4800" b="1" spc="-10" dirty="0">
                <a:solidFill>
                  <a:srgbClr val="5B2D8E"/>
                </a:solidFill>
                <a:latin typeface="Arial"/>
                <a:cs typeface="Arial"/>
              </a:rPr>
              <a:t>Statement</a:t>
            </a:r>
            <a:endParaRPr sz="4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64655" y="1652777"/>
            <a:ext cx="1920239" cy="75565"/>
          </a:xfrm>
          <a:custGeom>
            <a:avLst/>
            <a:gdLst/>
            <a:ahLst/>
            <a:cxnLst/>
            <a:rect l="l" t="t" r="r" b="b"/>
            <a:pathLst>
              <a:path w="1920239" h="75564">
                <a:moveTo>
                  <a:pt x="1920132" y="75437"/>
                </a:moveTo>
                <a:lnTo>
                  <a:pt x="0" y="75437"/>
                </a:lnTo>
                <a:lnTo>
                  <a:pt x="0" y="0"/>
                </a:lnTo>
                <a:lnTo>
                  <a:pt x="1920132" y="0"/>
                </a:lnTo>
                <a:lnTo>
                  <a:pt x="1920132" y="75437"/>
                </a:lnTo>
                <a:close/>
              </a:path>
            </a:pathLst>
          </a:custGeom>
          <a:solidFill>
            <a:srgbClr val="F5C4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02016" y="394830"/>
            <a:ext cx="3575612" cy="1432340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1727147" y="2667447"/>
            <a:ext cx="2733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5B2D8E"/>
                </a:solidFill>
                <a:latin typeface="Arial"/>
                <a:cs typeface="Arial"/>
              </a:rPr>
              <a:t>Problem</a:t>
            </a:r>
            <a:r>
              <a:rPr sz="2400" b="1" spc="-80" dirty="0">
                <a:solidFill>
                  <a:srgbClr val="5B2D8E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5B2D8E"/>
                </a:solidFill>
                <a:latin typeface="Arial"/>
                <a:cs typeface="Arial"/>
              </a:rPr>
              <a:t>Definition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64242" y="3412534"/>
            <a:ext cx="7625123" cy="360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 algn="just">
              <a:spcAft>
                <a:spcPts val="4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Arial MT"/>
                <a:ea typeface="Calibri" pitchFamily="34" charset="-122"/>
                <a:cs typeface="Times New Roman" panose="02020603050405020304" pitchFamily="18" charset="0"/>
              </a:rPr>
              <a:t>Stock research mixes price trends, news, portfolio limits and uncertainty.</a:t>
            </a:r>
            <a:endParaRPr lang="en-US" sz="2400" dirty="0">
              <a:latin typeface="Arial MT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4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Arial MT"/>
                <a:ea typeface="Calibri" pitchFamily="34" charset="-122"/>
                <a:cs typeface="Times New Roman" panose="02020603050405020304" pitchFamily="18" charset="0"/>
              </a:rPr>
              <a:t>A chat model can answer confidently without showing evidence.</a:t>
            </a:r>
            <a:endParaRPr lang="en-US" sz="2400" dirty="0">
              <a:latin typeface="Arial MT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4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Arial MT"/>
                <a:ea typeface="Calibri" pitchFamily="34" charset="-122"/>
                <a:cs typeface="Times New Roman" panose="02020603050405020304" pitchFamily="18" charset="0"/>
              </a:rPr>
              <a:t>Risk of an accidental jump from analysis to execution.</a:t>
            </a:r>
            <a:endParaRPr lang="en-US" sz="2400" dirty="0">
              <a:latin typeface="Arial MT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4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Arial MT"/>
                <a:ea typeface="Calibri" pitchFamily="34" charset="-122"/>
                <a:cs typeface="Times New Roman" panose="02020603050405020304" pitchFamily="18" charset="0"/>
              </a:rPr>
              <a:t>Research, pending proposal and broker receipt are easily confused.</a:t>
            </a:r>
            <a:endParaRPr lang="en-US" sz="2400" dirty="0">
              <a:latin typeface="Arial MT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4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Arial MT"/>
                <a:ea typeface="Calibri" pitchFamily="34" charset="-122"/>
                <a:cs typeface="Times New Roman" panose="02020603050405020304" pitchFamily="18" charset="0"/>
              </a:rPr>
              <a:t>Data outages can be disguised as a "missing stock</a:t>
            </a:r>
            <a:r>
              <a:rPr lang="en-US" sz="2400" dirty="0">
                <a:solidFill>
                  <a:srgbClr val="2B2B2B"/>
                </a:solidFill>
                <a:latin typeface="Arial MT"/>
                <a:ea typeface="Calibri" pitchFamily="34" charset="-122"/>
                <a:cs typeface="Calibri" pitchFamily="34" charset="-120"/>
              </a:rPr>
              <a:t>".</a:t>
            </a:r>
            <a:endParaRPr lang="en-US" sz="2400" dirty="0">
              <a:latin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400" dirty="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00200" y="3818729"/>
            <a:ext cx="728916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400" dirty="0">
              <a:latin typeface="Arial MT"/>
              <a:cs typeface="Arial MT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sz="half" idx="3"/>
          </p:nvPr>
        </p:nvSpPr>
        <p:spPr>
          <a:xfrm>
            <a:off x="10375251" y="2530089"/>
            <a:ext cx="6209665" cy="708206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55" algn="ctr">
              <a:lnSpc>
                <a:spcPct val="100000"/>
              </a:lnSpc>
              <a:spcBef>
                <a:spcPts val="105"/>
              </a:spcBef>
            </a:pPr>
            <a:r>
              <a:rPr dirty="0"/>
              <a:t>Business</a:t>
            </a:r>
            <a:r>
              <a:rPr spc="-40" dirty="0"/>
              <a:t> </a:t>
            </a:r>
            <a:r>
              <a:rPr dirty="0"/>
              <a:t>/</a:t>
            </a:r>
            <a:r>
              <a:rPr spc="-40" dirty="0"/>
              <a:t> </a:t>
            </a:r>
            <a:r>
              <a:rPr spc="-10" dirty="0"/>
              <a:t>Real-</a:t>
            </a:r>
            <a:r>
              <a:rPr dirty="0"/>
              <a:t>World</a:t>
            </a:r>
            <a:r>
              <a:rPr spc="-35" dirty="0"/>
              <a:t> </a:t>
            </a:r>
            <a:r>
              <a:rPr spc="-10" dirty="0"/>
              <a:t>Context</a:t>
            </a:r>
            <a:endParaRPr lang="en-US" spc="-10" dirty="0"/>
          </a:p>
          <a:p>
            <a:pPr marL="351155" indent="-342900" algn="just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chemeClr val="tx1"/>
                </a:solidFill>
                <a:latin typeface="Arial MT"/>
              </a:rPr>
              <a:t>Stock Research-Helps users </a:t>
            </a:r>
            <a:r>
              <a:rPr lang="en-IN" b="0" dirty="0" err="1">
                <a:solidFill>
                  <a:schemeClr val="tx1"/>
                </a:solidFill>
                <a:latin typeface="Arial MT"/>
              </a:rPr>
              <a:t>analyze</a:t>
            </a:r>
            <a:r>
              <a:rPr lang="en-IN" b="0" dirty="0">
                <a:solidFill>
                  <a:schemeClr val="tx1"/>
                </a:solidFill>
                <a:latin typeface="Arial MT"/>
              </a:rPr>
              <a:t> market data, news, and supporting evidence.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chemeClr val="tx1"/>
                </a:solidFill>
                <a:latin typeface="Arial MT"/>
              </a:rPr>
              <a:t>Decision Support-Provides structured insights and multiple perspectives before trading decisions.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chemeClr val="tx1"/>
                </a:solidFill>
                <a:latin typeface="Arial MT"/>
              </a:rPr>
              <a:t>Paper Trading-Allows users to test trading decisions in a controlled simulation environment.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chemeClr val="tx1"/>
                </a:solidFill>
                <a:latin typeface="Arial MT"/>
              </a:rPr>
              <a:t>Financial Research-Can support students, researchers, and retail users in studying market trends.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chemeClr val="tx1"/>
                </a:solidFill>
                <a:latin typeface="Arial MT"/>
              </a:rPr>
              <a:t>Real-World Deployment-Requires stronger security, licensed financial data, operational controls, and expert/legal review.</a:t>
            </a:r>
          </a:p>
          <a:p>
            <a:pPr marL="8255" algn="ctr">
              <a:lnSpc>
                <a:spcPct val="100000"/>
              </a:lnSpc>
              <a:spcBef>
                <a:spcPts val="105"/>
              </a:spcBef>
            </a:pPr>
            <a:endParaRPr spc="-10" dirty="0"/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pc="-10" dirty="0"/>
          </a:p>
        </p:txBody>
      </p:sp>
      <p:sp>
        <p:nvSpPr>
          <p:cNvPr id="8" name="object 8"/>
          <p:cNvSpPr/>
          <p:nvPr/>
        </p:nvSpPr>
        <p:spPr>
          <a:xfrm>
            <a:off x="288915" y="9299219"/>
            <a:ext cx="16917035" cy="14604"/>
          </a:xfrm>
          <a:custGeom>
            <a:avLst/>
            <a:gdLst/>
            <a:ahLst/>
            <a:cxnLst/>
            <a:rect l="l" t="t" r="r" b="b"/>
            <a:pathLst>
              <a:path w="16917035" h="14604">
                <a:moveTo>
                  <a:pt x="0" y="0"/>
                </a:moveTo>
                <a:lnTo>
                  <a:pt x="16916593" y="14171"/>
                </a:lnTo>
              </a:path>
            </a:pathLst>
          </a:custGeom>
          <a:ln w="9524">
            <a:solidFill>
              <a:srgbClr val="E2D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530">
              <a:lnSpc>
                <a:spcPts val="1760"/>
              </a:lnSpc>
            </a:pPr>
            <a:r>
              <a:rPr dirty="0"/>
              <a:t>Final</a:t>
            </a:r>
            <a:r>
              <a:rPr spc="-35" dirty="0"/>
              <a:t> </a:t>
            </a:r>
            <a:r>
              <a:rPr spc="-10" dirty="0"/>
              <a:t>review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760"/>
              </a:lnSpc>
            </a:pPr>
            <a:r>
              <a:rPr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Artificial</a:t>
            </a:r>
            <a:r>
              <a:rPr spc="-45" dirty="0"/>
              <a:t> </a:t>
            </a:r>
            <a:r>
              <a:rPr dirty="0"/>
              <a:t>Intelligence</a:t>
            </a:r>
            <a:r>
              <a:rPr spc="-5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Machine</a:t>
            </a:r>
            <a:r>
              <a:rPr spc="-45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42FE651-083C-4F08-140E-C9C424DCD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0202" y="609374"/>
            <a:ext cx="10764046" cy="89706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814E0F-97C2-EDDB-44A8-3CED147F1A27}"/>
              </a:ext>
            </a:extLst>
          </p:cNvPr>
          <p:cNvSpPr txBox="1"/>
          <p:nvPr/>
        </p:nvSpPr>
        <p:spPr>
          <a:xfrm flipH="1">
            <a:off x="914401" y="749519"/>
            <a:ext cx="396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1</a:t>
            </a:r>
            <a:endParaRPr lang="en-IN" sz="40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7509" rIns="0" bIns="0" rtlCol="0">
            <a:spAutoFit/>
          </a:bodyPr>
          <a:lstStyle/>
          <a:p>
            <a:pPr marL="183515">
              <a:lnSpc>
                <a:spcPct val="100000"/>
              </a:lnSpc>
              <a:spcBef>
                <a:spcPts val="100"/>
              </a:spcBef>
            </a:pPr>
            <a:r>
              <a:rPr dirty="0"/>
              <a:t>User</a:t>
            </a:r>
            <a:r>
              <a:rPr spc="-160" dirty="0"/>
              <a:t> </a:t>
            </a:r>
            <a:r>
              <a:rPr dirty="0"/>
              <a:t>and</a:t>
            </a:r>
            <a:r>
              <a:rPr spc="-155" dirty="0"/>
              <a:t> </a:t>
            </a:r>
            <a:r>
              <a:rPr dirty="0"/>
              <a:t>Stakeholder</a:t>
            </a:r>
            <a:r>
              <a:rPr spc="-155" dirty="0"/>
              <a:t> </a:t>
            </a:r>
            <a:r>
              <a:rPr spc="-10" dirty="0"/>
              <a:t>Analysis</a:t>
            </a: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76405" y="261585"/>
            <a:ext cx="3575612" cy="143234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863195" y="2071340"/>
            <a:ext cx="16561435" cy="7296784"/>
          </a:xfrm>
          <a:custGeom>
            <a:avLst/>
            <a:gdLst/>
            <a:ahLst/>
            <a:cxnLst/>
            <a:rect l="l" t="t" r="r" b="b"/>
            <a:pathLst>
              <a:path w="16561435" h="7296784">
                <a:moveTo>
                  <a:pt x="0" y="165849"/>
                </a:moveTo>
                <a:lnTo>
                  <a:pt x="7554" y="113416"/>
                </a:lnTo>
                <a:lnTo>
                  <a:pt x="28592" y="67888"/>
                </a:lnTo>
                <a:lnTo>
                  <a:pt x="60676" y="31990"/>
                </a:lnTo>
                <a:lnTo>
                  <a:pt x="101369" y="8452"/>
                </a:lnTo>
                <a:lnTo>
                  <a:pt x="148231" y="0"/>
                </a:lnTo>
                <a:lnTo>
                  <a:pt x="16413207" y="0"/>
                </a:lnTo>
                <a:lnTo>
                  <a:pt x="16460070" y="8452"/>
                </a:lnTo>
                <a:lnTo>
                  <a:pt x="16500762" y="31990"/>
                </a:lnTo>
                <a:lnTo>
                  <a:pt x="16532846" y="67888"/>
                </a:lnTo>
                <a:lnTo>
                  <a:pt x="16553884" y="113416"/>
                </a:lnTo>
                <a:lnTo>
                  <a:pt x="16561439" y="165849"/>
                </a:lnTo>
                <a:lnTo>
                  <a:pt x="16561439" y="7130343"/>
                </a:lnTo>
                <a:lnTo>
                  <a:pt x="16553884" y="7182775"/>
                </a:lnTo>
                <a:lnTo>
                  <a:pt x="16532846" y="7228302"/>
                </a:lnTo>
                <a:lnTo>
                  <a:pt x="16500762" y="7264198"/>
                </a:lnTo>
                <a:lnTo>
                  <a:pt x="16460070" y="7287736"/>
                </a:lnTo>
                <a:lnTo>
                  <a:pt x="16413207" y="7296187"/>
                </a:lnTo>
                <a:lnTo>
                  <a:pt x="148231" y="7296187"/>
                </a:lnTo>
                <a:lnTo>
                  <a:pt x="101378" y="7287708"/>
                </a:lnTo>
                <a:lnTo>
                  <a:pt x="60691" y="7264155"/>
                </a:lnTo>
                <a:lnTo>
                  <a:pt x="28609" y="7228249"/>
                </a:lnTo>
                <a:lnTo>
                  <a:pt x="7567" y="7182732"/>
                </a:lnTo>
                <a:lnTo>
                  <a:pt x="0" y="7130344"/>
                </a:lnTo>
                <a:lnTo>
                  <a:pt x="0" y="165849"/>
                </a:lnTo>
              </a:path>
            </a:pathLst>
          </a:custGeom>
          <a:ln w="38100">
            <a:solidFill>
              <a:srgbClr val="E1D5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255208" y="2559145"/>
            <a:ext cx="232600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20" dirty="0">
                <a:solidFill>
                  <a:srgbClr val="6A4198"/>
                </a:solidFill>
                <a:latin typeface="Arial"/>
                <a:cs typeface="Arial"/>
              </a:rPr>
              <a:t>Target</a:t>
            </a:r>
            <a:r>
              <a:rPr sz="3000" b="1" spc="-180" dirty="0">
                <a:solidFill>
                  <a:srgbClr val="6A4198"/>
                </a:solidFill>
                <a:latin typeface="Arial"/>
                <a:cs typeface="Arial"/>
              </a:rPr>
              <a:t> </a:t>
            </a:r>
            <a:r>
              <a:rPr sz="3000" b="1" spc="-10" dirty="0">
                <a:solidFill>
                  <a:srgbClr val="6A4198"/>
                </a:solidFill>
                <a:latin typeface="Arial"/>
                <a:cs typeface="Arial"/>
              </a:rPr>
              <a:t>Users</a:t>
            </a:r>
            <a:endParaRPr sz="3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301445" y="2468678"/>
            <a:ext cx="46812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5B2D8E"/>
                </a:solidFill>
                <a:latin typeface="Arial"/>
                <a:cs typeface="Arial"/>
              </a:rPr>
              <a:t>Stakeholder</a:t>
            </a:r>
            <a:r>
              <a:rPr sz="3000" b="1" spc="-130" dirty="0">
                <a:solidFill>
                  <a:srgbClr val="5B2D8E"/>
                </a:solidFill>
                <a:latin typeface="Arial"/>
                <a:cs typeface="Arial"/>
              </a:rPr>
              <a:t> </a:t>
            </a:r>
            <a:r>
              <a:rPr sz="3000" b="1" spc="-10" dirty="0">
                <a:solidFill>
                  <a:srgbClr val="5B2D8E"/>
                </a:solidFill>
                <a:latin typeface="Arial"/>
                <a:cs typeface="Arial"/>
              </a:rPr>
              <a:t>Identification</a:t>
            </a:r>
            <a:endParaRPr sz="3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86435" y="3644995"/>
            <a:ext cx="6325067" cy="42182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IN" sz="3200" dirty="0"/>
              <a:t>Retail Investors</a:t>
            </a:r>
            <a:endParaRPr sz="3000" dirty="0">
              <a:latin typeface="Arial MT"/>
              <a:cs typeface="Arial MT"/>
            </a:endParaRPr>
          </a:p>
          <a:p>
            <a:pPr marL="469900" marR="1507490" indent="-457200">
              <a:lnSpc>
                <a:spcPct val="195800"/>
              </a:lnSpc>
              <a:buFont typeface="Arial" panose="020B0604020202020204" pitchFamily="34" charset="0"/>
              <a:buChar char="•"/>
            </a:pPr>
            <a:r>
              <a:rPr lang="en-IN" sz="3200" dirty="0"/>
              <a:t>Financial Researchers</a:t>
            </a:r>
          </a:p>
          <a:p>
            <a:pPr marL="469900" marR="1507490" indent="-457200">
              <a:lnSpc>
                <a:spcPct val="195800"/>
              </a:lnSpc>
              <a:buFont typeface="Arial" panose="020B0604020202020204" pitchFamily="34" charset="0"/>
              <a:buChar char="•"/>
            </a:pPr>
            <a:r>
              <a:rPr lang="en-IN" sz="3200" dirty="0"/>
              <a:t>Stock  Market Analysts</a:t>
            </a:r>
            <a:r>
              <a:rPr sz="3000" spc="-180" dirty="0">
                <a:solidFill>
                  <a:srgbClr val="191919"/>
                </a:solidFill>
                <a:latin typeface="Arial MT"/>
                <a:cs typeface="Arial MT"/>
              </a:rPr>
              <a:t> </a:t>
            </a:r>
            <a:endParaRPr lang="en-IN" sz="3000" spc="-180" dirty="0">
              <a:solidFill>
                <a:srgbClr val="191919"/>
              </a:solidFill>
              <a:latin typeface="Arial MT"/>
              <a:cs typeface="Arial MT"/>
            </a:endParaRPr>
          </a:p>
          <a:p>
            <a:pPr marL="469900" marR="1507490" indent="-457200">
              <a:lnSpc>
                <a:spcPct val="195800"/>
              </a:lnSpc>
              <a:buFont typeface="Arial" panose="020B0604020202020204" pitchFamily="34" charset="0"/>
              <a:buChar char="•"/>
            </a:pPr>
            <a:r>
              <a:rPr lang="en-IN" sz="3200" dirty="0"/>
              <a:t>Paper-Trading Users</a:t>
            </a:r>
          </a:p>
          <a:p>
            <a:pPr marL="469900" marR="1507490" indent="-457200">
              <a:lnSpc>
                <a:spcPct val="1958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Arial MT"/>
                <a:cs typeface="Arial MT"/>
              </a:rPr>
              <a:t>Investment Students</a:t>
            </a:r>
            <a:endParaRPr sz="3000" dirty="0">
              <a:latin typeface="Arial MT"/>
              <a:cs typeface="Arial MT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615527"/>
              </p:ext>
            </p:extLst>
          </p:nvPr>
        </p:nvGraphicFramePr>
        <p:xfrm>
          <a:off x="7914789" y="3328693"/>
          <a:ext cx="8486775" cy="57772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00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6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74923"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2475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Stakeholder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143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ct val="100000"/>
                        </a:lnSpc>
                        <a:spcBef>
                          <a:spcPts val="2475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Main </a:t>
                      </a:r>
                      <a:r>
                        <a:rPr sz="2400" b="1" spc="-20" dirty="0">
                          <a:latin typeface="Arial"/>
                          <a:cs typeface="Arial"/>
                        </a:rPr>
                        <a:t>Need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143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57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  <a:p>
                      <a:pPr marL="208915">
                        <a:lnSpc>
                          <a:spcPct val="100000"/>
                        </a:lnSpc>
                      </a:pPr>
                      <a:r>
                        <a:rPr lang="en-IN" sz="2400" dirty="0">
                          <a:latin typeface="Arial MT"/>
                        </a:rPr>
                        <a:t>Retail Investor</a:t>
                      </a:r>
                      <a:endParaRPr sz="2400" dirty="0">
                        <a:latin typeface="Arial MT"/>
                        <a:cs typeface="Arial MT"/>
                      </a:endParaRPr>
                    </a:p>
                  </a:txBody>
                  <a:tcPr marL="0" marR="0" marT="1162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 MT"/>
                        </a:rPr>
                        <a:t>Research stocks and evaluate recommendations</a:t>
                      </a:r>
                      <a:endParaRPr lang="en-IN" sz="2400" dirty="0">
                        <a:latin typeface="Arial MT"/>
                      </a:endParaRPr>
                    </a:p>
                  </a:txBody>
                  <a:tcPr anchor="ctr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57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lang="en-IN" sz="2400" dirty="0"/>
                        <a:t>     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lang="en-IN" sz="2400" dirty="0"/>
                        <a:t>  </a:t>
                      </a:r>
                      <a:r>
                        <a:rPr lang="en-IN" sz="2400" dirty="0">
                          <a:latin typeface="Arial MT"/>
                        </a:rPr>
                        <a:t>Financial Researcher</a:t>
                      </a:r>
                      <a:endParaRPr sz="2400" dirty="0">
                        <a:latin typeface="Arial MT"/>
                        <a:cs typeface="Times New Roman"/>
                      </a:endParaRPr>
                    </a:p>
                  </a:txBody>
                  <a:tcPr marL="0" marR="0" marT="1162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 MT"/>
                        </a:rPr>
                        <a:t>Analyze market data and supporting evidence</a:t>
                      </a:r>
                      <a:endParaRPr lang="en-IN" sz="2400" dirty="0">
                        <a:latin typeface="Arial MT"/>
                      </a:endParaRPr>
                    </a:p>
                  </a:txBody>
                  <a:tcPr anchor="ctr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4923"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2475"/>
                        </a:spcBef>
                      </a:pPr>
                      <a:r>
                        <a:rPr lang="en-IN" sz="2400" dirty="0">
                          <a:latin typeface="Arial MT"/>
                        </a:rPr>
                        <a:t>System Administrator</a:t>
                      </a:r>
                      <a:endParaRPr sz="2400" dirty="0">
                        <a:latin typeface="Arial MT"/>
                        <a:cs typeface="Arial MT"/>
                      </a:endParaRPr>
                    </a:p>
                  </a:txBody>
                  <a:tcPr marL="0" marR="0" marT="3143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Arial MT"/>
                        </a:rPr>
                        <a:t>Manage models, data sources, and system configuration</a:t>
                      </a:r>
                    </a:p>
                  </a:txBody>
                  <a:tcPr anchor="ctr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757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lang="en-IN" sz="2400" dirty="0">
                          <a:latin typeface="Times New Roman"/>
                          <a:cs typeface="Times New Roman"/>
                        </a:rPr>
                        <a:t>  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lang="en-IN" sz="2400" dirty="0"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lang="en-IN" sz="2400" dirty="0">
                          <a:latin typeface="Arial MT"/>
                        </a:rPr>
                        <a:t>Paper-Trading User</a:t>
                      </a:r>
                      <a:endParaRPr sz="2400" dirty="0">
                        <a:latin typeface="Arial MT"/>
                        <a:cs typeface="Times New Roman"/>
                      </a:endParaRPr>
                    </a:p>
                  </a:txBody>
                  <a:tcPr marL="0" marR="0" marT="1162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 MT"/>
                        </a:rPr>
                        <a:t>Review and approve paper-trading proposals</a:t>
                      </a:r>
                    </a:p>
                  </a:txBody>
                  <a:tcPr anchor="ctr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00320" rIns="0" bIns="0" rtlCol="0">
            <a:spAutoFit/>
          </a:bodyPr>
          <a:lstStyle/>
          <a:p>
            <a:pPr marL="12700">
              <a:lnSpc>
                <a:spcPts val="1760"/>
              </a:lnSpc>
            </a:pPr>
            <a:r>
              <a:rPr dirty="0"/>
              <a:t>Final</a:t>
            </a:r>
            <a:r>
              <a:rPr spc="-35" dirty="0"/>
              <a:t> </a:t>
            </a:r>
            <a:r>
              <a:rPr spc="-10" dirty="0"/>
              <a:t>review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63196" rIns="0" bIns="0" rtlCol="0">
            <a:spAutoFit/>
          </a:bodyPr>
          <a:lstStyle/>
          <a:p>
            <a:pPr marL="12700">
              <a:lnSpc>
                <a:spcPts val="1760"/>
              </a:lnSpc>
            </a:pPr>
            <a:r>
              <a:rPr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Artificial</a:t>
            </a:r>
            <a:r>
              <a:rPr spc="-45" dirty="0"/>
              <a:t> </a:t>
            </a:r>
            <a:r>
              <a:rPr dirty="0"/>
              <a:t>Intelligence</a:t>
            </a:r>
            <a:r>
              <a:rPr spc="-5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Machine</a:t>
            </a:r>
            <a:r>
              <a:rPr spc="-45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BDB88F-E81A-9311-4DC4-2DAD776D97DF}"/>
              </a:ext>
            </a:extLst>
          </p:cNvPr>
          <p:cNvSpPr txBox="1"/>
          <p:nvPr/>
        </p:nvSpPr>
        <p:spPr>
          <a:xfrm>
            <a:off x="762000" y="748126"/>
            <a:ext cx="6417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2</a:t>
            </a:r>
            <a:endParaRPr lang="en-IN" sz="40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7509" rIns="0" bIns="0" rtlCol="0">
            <a:spAutoFit/>
          </a:bodyPr>
          <a:lstStyle/>
          <a:p>
            <a:pPr marL="214629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204" dirty="0"/>
              <a:t> </a:t>
            </a:r>
            <a:r>
              <a:rPr dirty="0"/>
              <a:t>System:</a:t>
            </a:r>
            <a:r>
              <a:rPr spc="-200" dirty="0"/>
              <a:t> </a:t>
            </a:r>
            <a:r>
              <a:rPr dirty="0"/>
              <a:t>Analysis</a:t>
            </a:r>
            <a:r>
              <a:rPr spc="-204" dirty="0"/>
              <a:t> </a:t>
            </a:r>
            <a:r>
              <a:rPr spc="-10" dirty="0"/>
              <a:t>Pipeline</a:t>
            </a:r>
          </a:p>
        </p:txBody>
      </p:sp>
      <p:pic>
        <p:nvPicPr>
          <p:cNvPr id="52" name="object 5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02016" y="220437"/>
            <a:ext cx="3575612" cy="143234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964655" y="1652777"/>
            <a:ext cx="1920239" cy="75565"/>
          </a:xfrm>
          <a:custGeom>
            <a:avLst/>
            <a:gdLst/>
            <a:ahLst/>
            <a:cxnLst/>
            <a:rect l="l" t="t" r="r" b="b"/>
            <a:pathLst>
              <a:path w="1920239" h="75564">
                <a:moveTo>
                  <a:pt x="1920132" y="75437"/>
                </a:moveTo>
                <a:lnTo>
                  <a:pt x="0" y="75437"/>
                </a:lnTo>
                <a:lnTo>
                  <a:pt x="0" y="0"/>
                </a:lnTo>
                <a:lnTo>
                  <a:pt x="1920132" y="0"/>
                </a:lnTo>
                <a:lnTo>
                  <a:pt x="1920132" y="75437"/>
                </a:lnTo>
                <a:close/>
              </a:path>
            </a:pathLst>
          </a:custGeom>
          <a:solidFill>
            <a:srgbClr val="F5C41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900322" y="2387069"/>
            <a:ext cx="16468725" cy="6505575"/>
            <a:chOff x="900322" y="2387069"/>
            <a:chExt cx="16468725" cy="6505575"/>
          </a:xfrm>
        </p:grpSpPr>
        <p:sp>
          <p:nvSpPr>
            <p:cNvPr id="5" name="object 5"/>
            <p:cNvSpPr/>
            <p:nvPr/>
          </p:nvSpPr>
          <p:spPr>
            <a:xfrm>
              <a:off x="919238" y="2406119"/>
              <a:ext cx="16431260" cy="6470015"/>
            </a:xfrm>
            <a:custGeom>
              <a:avLst/>
              <a:gdLst/>
              <a:ahLst/>
              <a:cxnLst/>
              <a:rect l="l" t="t" r="r" b="b"/>
              <a:pathLst>
                <a:path w="16431260" h="6470015">
                  <a:moveTo>
                    <a:pt x="16284129" y="6469856"/>
                  </a:moveTo>
                  <a:lnTo>
                    <a:pt x="147065" y="6469856"/>
                  </a:lnTo>
                  <a:lnTo>
                    <a:pt x="100628" y="6462361"/>
                  </a:lnTo>
                  <a:lnTo>
                    <a:pt x="60252" y="6441488"/>
                  </a:lnTo>
                  <a:lnTo>
                    <a:pt x="28408" y="6409656"/>
                  </a:lnTo>
                  <a:lnTo>
                    <a:pt x="7513" y="6369284"/>
                  </a:lnTo>
                  <a:lnTo>
                    <a:pt x="0" y="6322790"/>
                  </a:lnTo>
                  <a:lnTo>
                    <a:pt x="0" y="147065"/>
                  </a:lnTo>
                  <a:lnTo>
                    <a:pt x="7495" y="100571"/>
                  </a:lnTo>
                  <a:lnTo>
                    <a:pt x="28367" y="60199"/>
                  </a:lnTo>
                  <a:lnTo>
                    <a:pt x="60199" y="28367"/>
                  </a:lnTo>
                  <a:lnTo>
                    <a:pt x="100571" y="7495"/>
                  </a:lnTo>
                  <a:lnTo>
                    <a:pt x="147065" y="0"/>
                  </a:lnTo>
                  <a:lnTo>
                    <a:pt x="16284129" y="0"/>
                  </a:lnTo>
                  <a:lnTo>
                    <a:pt x="16330623" y="7495"/>
                  </a:lnTo>
                  <a:lnTo>
                    <a:pt x="16370995" y="28367"/>
                  </a:lnTo>
                  <a:lnTo>
                    <a:pt x="16402826" y="60199"/>
                  </a:lnTo>
                  <a:lnTo>
                    <a:pt x="16423699" y="100571"/>
                  </a:lnTo>
                  <a:lnTo>
                    <a:pt x="16431194" y="147065"/>
                  </a:lnTo>
                  <a:lnTo>
                    <a:pt x="16431194" y="6322790"/>
                  </a:lnTo>
                  <a:lnTo>
                    <a:pt x="16423699" y="6369284"/>
                  </a:lnTo>
                  <a:lnTo>
                    <a:pt x="16402826" y="6409656"/>
                  </a:lnTo>
                  <a:lnTo>
                    <a:pt x="16370995" y="6441488"/>
                  </a:lnTo>
                  <a:lnTo>
                    <a:pt x="16330623" y="6462361"/>
                  </a:lnTo>
                  <a:lnTo>
                    <a:pt x="16284129" y="6469856"/>
                  </a:lnTo>
                  <a:close/>
                </a:path>
              </a:pathLst>
            </a:custGeom>
            <a:solidFill>
              <a:srgbClr val="F4F1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9372" y="2406119"/>
              <a:ext cx="16430625" cy="6467475"/>
            </a:xfrm>
            <a:custGeom>
              <a:avLst/>
              <a:gdLst/>
              <a:ahLst/>
              <a:cxnLst/>
              <a:rect l="l" t="t" r="r" b="b"/>
              <a:pathLst>
                <a:path w="16430625" h="6467475">
                  <a:moveTo>
                    <a:pt x="16430488" y="6325328"/>
                  </a:moveTo>
                  <a:lnTo>
                    <a:pt x="16423422" y="6369176"/>
                  </a:lnTo>
                  <a:lnTo>
                    <a:pt x="16402549" y="6409548"/>
                  </a:lnTo>
                  <a:lnTo>
                    <a:pt x="16370717" y="6441379"/>
                  </a:lnTo>
                  <a:lnTo>
                    <a:pt x="16330345" y="6462251"/>
                  </a:lnTo>
                  <a:lnTo>
                    <a:pt x="16297941" y="6467473"/>
                  </a:lnTo>
                </a:path>
                <a:path w="16430625" h="6467475">
                  <a:moveTo>
                    <a:pt x="132991" y="6467474"/>
                  </a:moveTo>
                  <a:lnTo>
                    <a:pt x="60210" y="6441338"/>
                  </a:lnTo>
                  <a:lnTo>
                    <a:pt x="28382" y="6409497"/>
                  </a:lnTo>
                  <a:lnTo>
                    <a:pt x="7507" y="6369136"/>
                  </a:lnTo>
                  <a:lnTo>
                    <a:pt x="0" y="6322682"/>
                  </a:lnTo>
                  <a:lnTo>
                    <a:pt x="0" y="147063"/>
                  </a:lnTo>
                  <a:lnTo>
                    <a:pt x="7494" y="100570"/>
                  </a:lnTo>
                  <a:lnTo>
                    <a:pt x="28367" y="60198"/>
                  </a:lnTo>
                  <a:lnTo>
                    <a:pt x="60198" y="28367"/>
                  </a:lnTo>
                  <a:lnTo>
                    <a:pt x="100570" y="7495"/>
                  </a:lnTo>
                  <a:lnTo>
                    <a:pt x="147063" y="0"/>
                  </a:lnTo>
                  <a:lnTo>
                    <a:pt x="16283851" y="0"/>
                  </a:lnTo>
                  <a:lnTo>
                    <a:pt x="16330345" y="7494"/>
                  </a:lnTo>
                  <a:lnTo>
                    <a:pt x="16370717" y="28366"/>
                  </a:lnTo>
                  <a:lnTo>
                    <a:pt x="16402549" y="60198"/>
                  </a:lnTo>
                  <a:lnTo>
                    <a:pt x="16423422" y="100569"/>
                  </a:lnTo>
                  <a:lnTo>
                    <a:pt x="16430488" y="144417"/>
                  </a:lnTo>
                </a:path>
              </a:pathLst>
            </a:custGeom>
            <a:ln w="38099">
              <a:solidFill>
                <a:srgbClr val="E1D5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290319" y="2705734"/>
            <a:ext cx="15655289" cy="64112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2000" dirty="0"/>
              <a:t>Transforms a stock-research question into an evidence-based analysis and risk-controlled paper-trading proposal through a multi-agent workflow.</a:t>
            </a:r>
            <a:r>
              <a:rPr sz="1850" spc="-10" dirty="0">
                <a:latin typeface="Arial MT"/>
                <a:cs typeface="Arial MT"/>
              </a:rPr>
              <a:t>.</a:t>
            </a:r>
            <a:endParaRPr sz="1850" dirty="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274441" y="3400424"/>
            <a:ext cx="5038725" cy="2457450"/>
            <a:chOff x="1274441" y="3400424"/>
            <a:chExt cx="5038725" cy="2457450"/>
          </a:xfrm>
        </p:grpSpPr>
        <p:sp>
          <p:nvSpPr>
            <p:cNvPr id="11" name="object 11"/>
            <p:cNvSpPr/>
            <p:nvPr/>
          </p:nvSpPr>
          <p:spPr>
            <a:xfrm>
              <a:off x="1293494" y="3419475"/>
              <a:ext cx="4999355" cy="2419350"/>
            </a:xfrm>
            <a:custGeom>
              <a:avLst/>
              <a:gdLst/>
              <a:ahLst/>
              <a:cxnLst/>
              <a:rect l="l" t="t" r="r" b="b"/>
              <a:pathLst>
                <a:path w="4999355" h="2419350">
                  <a:moveTo>
                    <a:pt x="4857368" y="2419349"/>
                  </a:moveTo>
                  <a:lnTo>
                    <a:pt x="145161" y="2419349"/>
                  </a:lnTo>
                  <a:lnTo>
                    <a:pt x="99267" y="2411952"/>
                  </a:lnTo>
                  <a:lnTo>
                    <a:pt x="59417" y="2391350"/>
                  </a:lnTo>
                  <a:lnTo>
                    <a:pt x="27998" y="2359932"/>
                  </a:lnTo>
                  <a:lnTo>
                    <a:pt x="7397" y="2320082"/>
                  </a:lnTo>
                  <a:lnTo>
                    <a:pt x="0" y="2274188"/>
                  </a:lnTo>
                  <a:lnTo>
                    <a:pt x="0" y="145161"/>
                  </a:lnTo>
                  <a:lnTo>
                    <a:pt x="7397" y="99267"/>
                  </a:lnTo>
                  <a:lnTo>
                    <a:pt x="27998" y="59417"/>
                  </a:lnTo>
                  <a:lnTo>
                    <a:pt x="59417" y="27998"/>
                  </a:lnTo>
                  <a:lnTo>
                    <a:pt x="99267" y="7397"/>
                  </a:lnTo>
                  <a:lnTo>
                    <a:pt x="145161" y="0"/>
                  </a:lnTo>
                  <a:lnTo>
                    <a:pt x="4857368" y="0"/>
                  </a:lnTo>
                  <a:lnTo>
                    <a:pt x="4903262" y="7397"/>
                  </a:lnTo>
                  <a:lnTo>
                    <a:pt x="4943111" y="27998"/>
                  </a:lnTo>
                  <a:lnTo>
                    <a:pt x="4974530" y="59417"/>
                  </a:lnTo>
                  <a:lnTo>
                    <a:pt x="4995132" y="99267"/>
                  </a:lnTo>
                  <a:lnTo>
                    <a:pt x="4999359" y="125492"/>
                  </a:lnTo>
                  <a:lnTo>
                    <a:pt x="4999359" y="2293857"/>
                  </a:lnTo>
                  <a:lnTo>
                    <a:pt x="4974530" y="2359932"/>
                  </a:lnTo>
                  <a:lnTo>
                    <a:pt x="4943111" y="2391350"/>
                  </a:lnTo>
                  <a:lnTo>
                    <a:pt x="4903262" y="2411952"/>
                  </a:lnTo>
                  <a:lnTo>
                    <a:pt x="4857368" y="24193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93491" y="3419474"/>
              <a:ext cx="5000625" cy="2419350"/>
            </a:xfrm>
            <a:custGeom>
              <a:avLst/>
              <a:gdLst/>
              <a:ahLst/>
              <a:cxnLst/>
              <a:rect l="l" t="t" r="r" b="b"/>
              <a:pathLst>
                <a:path w="5000625" h="2419350">
                  <a:moveTo>
                    <a:pt x="5000539" y="2285993"/>
                  </a:moveTo>
                  <a:lnTo>
                    <a:pt x="4974489" y="2359977"/>
                  </a:lnTo>
                  <a:lnTo>
                    <a:pt x="4943071" y="2391395"/>
                  </a:lnTo>
                  <a:lnTo>
                    <a:pt x="4903156" y="2411969"/>
                  </a:lnTo>
                  <a:lnTo>
                    <a:pt x="4857256" y="2419349"/>
                  </a:lnTo>
                  <a:lnTo>
                    <a:pt x="145156" y="2419348"/>
                  </a:lnTo>
                  <a:lnTo>
                    <a:pt x="99257" y="2411945"/>
                  </a:lnTo>
                  <a:lnTo>
                    <a:pt x="59406" y="2391335"/>
                  </a:lnTo>
                  <a:lnTo>
                    <a:pt x="27991" y="2359909"/>
                  </a:lnTo>
                  <a:lnTo>
                    <a:pt x="7397" y="2320056"/>
                  </a:lnTo>
                  <a:lnTo>
                    <a:pt x="3" y="2274163"/>
                  </a:lnTo>
                  <a:lnTo>
                    <a:pt x="0" y="145185"/>
                  </a:lnTo>
                  <a:lnTo>
                    <a:pt x="7390" y="99288"/>
                  </a:lnTo>
                  <a:lnTo>
                    <a:pt x="27988" y="59431"/>
                  </a:lnTo>
                  <a:lnTo>
                    <a:pt x="59409" y="28005"/>
                  </a:lnTo>
                  <a:lnTo>
                    <a:pt x="99264" y="7398"/>
                  </a:lnTo>
                  <a:lnTo>
                    <a:pt x="145161" y="0"/>
                  </a:lnTo>
                  <a:lnTo>
                    <a:pt x="4857256" y="0"/>
                  </a:lnTo>
                  <a:lnTo>
                    <a:pt x="4903185" y="7355"/>
                  </a:lnTo>
                  <a:lnTo>
                    <a:pt x="4943070" y="27954"/>
                  </a:lnTo>
                  <a:lnTo>
                    <a:pt x="4974520" y="59390"/>
                  </a:lnTo>
                  <a:lnTo>
                    <a:pt x="4995137" y="99274"/>
                  </a:lnTo>
                  <a:lnTo>
                    <a:pt x="5000508" y="133361"/>
                  </a:lnTo>
                </a:path>
              </a:pathLst>
            </a:custGeom>
            <a:ln w="38099">
              <a:solidFill>
                <a:srgbClr val="E1D5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08759" y="3621024"/>
              <a:ext cx="576580" cy="576580"/>
            </a:xfrm>
            <a:custGeom>
              <a:avLst/>
              <a:gdLst/>
              <a:ahLst/>
              <a:cxnLst/>
              <a:rect l="l" t="t" r="r" b="b"/>
              <a:pathLst>
                <a:path w="576580" h="576579">
                  <a:moveTo>
                    <a:pt x="288036" y="576071"/>
                  </a:moveTo>
                  <a:lnTo>
                    <a:pt x="241317" y="572301"/>
                  </a:lnTo>
                  <a:lnTo>
                    <a:pt x="196998" y="561386"/>
                  </a:lnTo>
                  <a:lnTo>
                    <a:pt x="155671" y="543919"/>
                  </a:lnTo>
                  <a:lnTo>
                    <a:pt x="117930" y="520494"/>
                  </a:lnTo>
                  <a:lnTo>
                    <a:pt x="84367" y="491704"/>
                  </a:lnTo>
                  <a:lnTo>
                    <a:pt x="55577" y="458141"/>
                  </a:lnTo>
                  <a:lnTo>
                    <a:pt x="32152" y="420400"/>
                  </a:lnTo>
                  <a:lnTo>
                    <a:pt x="14685" y="379073"/>
                  </a:lnTo>
                  <a:lnTo>
                    <a:pt x="3770" y="334754"/>
                  </a:lnTo>
                  <a:lnTo>
                    <a:pt x="0" y="288035"/>
                  </a:lnTo>
                  <a:lnTo>
                    <a:pt x="3770" y="241317"/>
                  </a:lnTo>
                  <a:lnTo>
                    <a:pt x="14685" y="196998"/>
                  </a:lnTo>
                  <a:lnTo>
                    <a:pt x="32152" y="155671"/>
                  </a:lnTo>
                  <a:lnTo>
                    <a:pt x="55577" y="117930"/>
                  </a:lnTo>
                  <a:lnTo>
                    <a:pt x="84367" y="84367"/>
                  </a:lnTo>
                  <a:lnTo>
                    <a:pt x="117930" y="55577"/>
                  </a:lnTo>
                  <a:lnTo>
                    <a:pt x="155671" y="32152"/>
                  </a:lnTo>
                  <a:lnTo>
                    <a:pt x="196998" y="14685"/>
                  </a:lnTo>
                  <a:lnTo>
                    <a:pt x="241317" y="3770"/>
                  </a:lnTo>
                  <a:lnTo>
                    <a:pt x="288036" y="0"/>
                  </a:lnTo>
                  <a:lnTo>
                    <a:pt x="334754" y="3770"/>
                  </a:lnTo>
                  <a:lnTo>
                    <a:pt x="379073" y="14685"/>
                  </a:lnTo>
                  <a:lnTo>
                    <a:pt x="420400" y="32152"/>
                  </a:lnTo>
                  <a:lnTo>
                    <a:pt x="458141" y="55577"/>
                  </a:lnTo>
                  <a:lnTo>
                    <a:pt x="491704" y="84367"/>
                  </a:lnTo>
                  <a:lnTo>
                    <a:pt x="520494" y="117930"/>
                  </a:lnTo>
                  <a:lnTo>
                    <a:pt x="543920" y="155671"/>
                  </a:lnTo>
                  <a:lnTo>
                    <a:pt x="561386" y="196998"/>
                  </a:lnTo>
                  <a:lnTo>
                    <a:pt x="572301" y="241317"/>
                  </a:lnTo>
                  <a:lnTo>
                    <a:pt x="576072" y="288035"/>
                  </a:lnTo>
                  <a:lnTo>
                    <a:pt x="572301" y="334754"/>
                  </a:lnTo>
                  <a:lnTo>
                    <a:pt x="561386" y="379073"/>
                  </a:lnTo>
                  <a:lnTo>
                    <a:pt x="543920" y="420400"/>
                  </a:lnTo>
                  <a:lnTo>
                    <a:pt x="520494" y="458141"/>
                  </a:lnTo>
                  <a:lnTo>
                    <a:pt x="491704" y="491704"/>
                  </a:lnTo>
                  <a:lnTo>
                    <a:pt x="458141" y="520494"/>
                  </a:lnTo>
                  <a:lnTo>
                    <a:pt x="420400" y="543919"/>
                  </a:lnTo>
                  <a:lnTo>
                    <a:pt x="379073" y="561386"/>
                  </a:lnTo>
                  <a:lnTo>
                    <a:pt x="334754" y="572301"/>
                  </a:lnTo>
                  <a:lnTo>
                    <a:pt x="288036" y="576071"/>
                  </a:lnTo>
                  <a:close/>
                </a:path>
              </a:pathLst>
            </a:custGeom>
            <a:solidFill>
              <a:srgbClr val="F5C4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720343" y="373214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30627" y="3711996"/>
            <a:ext cx="2718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b="1" dirty="0">
                <a:solidFill>
                  <a:srgbClr val="5B2D8E"/>
                </a:solidFill>
                <a:latin typeface="Arial"/>
                <a:cs typeface="Arial"/>
              </a:rPr>
              <a:t>Research Query</a:t>
            </a:r>
            <a:endParaRPr lang="en-IN" sz="2400" dirty="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600820" y="3400424"/>
            <a:ext cx="5038725" cy="2457450"/>
            <a:chOff x="6600820" y="3400424"/>
            <a:chExt cx="5038725" cy="2457450"/>
          </a:xfrm>
        </p:grpSpPr>
        <p:sp>
          <p:nvSpPr>
            <p:cNvPr id="17" name="object 17"/>
            <p:cNvSpPr/>
            <p:nvPr/>
          </p:nvSpPr>
          <p:spPr>
            <a:xfrm>
              <a:off x="6619873" y="3419475"/>
              <a:ext cx="4999355" cy="2419350"/>
            </a:xfrm>
            <a:custGeom>
              <a:avLst/>
              <a:gdLst/>
              <a:ahLst/>
              <a:cxnLst/>
              <a:rect l="l" t="t" r="r" b="b"/>
              <a:pathLst>
                <a:path w="4999355" h="2419350">
                  <a:moveTo>
                    <a:pt x="4857368" y="2419349"/>
                  </a:moveTo>
                  <a:lnTo>
                    <a:pt x="145161" y="2419349"/>
                  </a:lnTo>
                  <a:lnTo>
                    <a:pt x="99267" y="2411952"/>
                  </a:lnTo>
                  <a:lnTo>
                    <a:pt x="59417" y="2391350"/>
                  </a:lnTo>
                  <a:lnTo>
                    <a:pt x="27999" y="2359932"/>
                  </a:lnTo>
                  <a:lnTo>
                    <a:pt x="7397" y="2320082"/>
                  </a:lnTo>
                  <a:lnTo>
                    <a:pt x="0" y="2274188"/>
                  </a:lnTo>
                  <a:lnTo>
                    <a:pt x="0" y="145161"/>
                  </a:lnTo>
                  <a:lnTo>
                    <a:pt x="7397" y="99267"/>
                  </a:lnTo>
                  <a:lnTo>
                    <a:pt x="27999" y="59417"/>
                  </a:lnTo>
                  <a:lnTo>
                    <a:pt x="59417" y="27998"/>
                  </a:lnTo>
                  <a:lnTo>
                    <a:pt x="99267" y="7397"/>
                  </a:lnTo>
                  <a:lnTo>
                    <a:pt x="145161" y="0"/>
                  </a:lnTo>
                  <a:lnTo>
                    <a:pt x="4857368" y="0"/>
                  </a:lnTo>
                  <a:lnTo>
                    <a:pt x="4903262" y="7397"/>
                  </a:lnTo>
                  <a:lnTo>
                    <a:pt x="4943111" y="27998"/>
                  </a:lnTo>
                  <a:lnTo>
                    <a:pt x="4974530" y="59417"/>
                  </a:lnTo>
                  <a:lnTo>
                    <a:pt x="4995132" y="99267"/>
                  </a:lnTo>
                  <a:lnTo>
                    <a:pt x="4999359" y="125491"/>
                  </a:lnTo>
                  <a:lnTo>
                    <a:pt x="4999359" y="2293858"/>
                  </a:lnTo>
                  <a:lnTo>
                    <a:pt x="4974530" y="2359932"/>
                  </a:lnTo>
                  <a:lnTo>
                    <a:pt x="4943111" y="2391350"/>
                  </a:lnTo>
                  <a:lnTo>
                    <a:pt x="4903262" y="2411952"/>
                  </a:lnTo>
                  <a:lnTo>
                    <a:pt x="4857368" y="24193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8" name="object 18"/>
            <p:cNvSpPr/>
            <p:nvPr/>
          </p:nvSpPr>
          <p:spPr>
            <a:xfrm>
              <a:off x="6619870" y="3419474"/>
              <a:ext cx="5000625" cy="2419350"/>
            </a:xfrm>
            <a:custGeom>
              <a:avLst/>
              <a:gdLst/>
              <a:ahLst/>
              <a:cxnLst/>
              <a:rect l="l" t="t" r="r" b="b"/>
              <a:pathLst>
                <a:path w="5000625" h="2419350">
                  <a:moveTo>
                    <a:pt x="5000539" y="2285993"/>
                  </a:moveTo>
                  <a:lnTo>
                    <a:pt x="4974489" y="2359977"/>
                  </a:lnTo>
                  <a:lnTo>
                    <a:pt x="4943071" y="2391395"/>
                  </a:lnTo>
                  <a:lnTo>
                    <a:pt x="4903156" y="2411969"/>
                  </a:lnTo>
                  <a:lnTo>
                    <a:pt x="4857256" y="2419349"/>
                  </a:lnTo>
                  <a:lnTo>
                    <a:pt x="145156" y="2419348"/>
                  </a:lnTo>
                  <a:lnTo>
                    <a:pt x="99257" y="2411945"/>
                  </a:lnTo>
                  <a:lnTo>
                    <a:pt x="59406" y="2391335"/>
                  </a:lnTo>
                  <a:lnTo>
                    <a:pt x="27991" y="2359909"/>
                  </a:lnTo>
                  <a:lnTo>
                    <a:pt x="7397" y="2320056"/>
                  </a:lnTo>
                  <a:lnTo>
                    <a:pt x="3" y="2274163"/>
                  </a:lnTo>
                  <a:lnTo>
                    <a:pt x="0" y="145185"/>
                  </a:lnTo>
                  <a:lnTo>
                    <a:pt x="7390" y="99288"/>
                  </a:lnTo>
                  <a:lnTo>
                    <a:pt x="27988" y="59431"/>
                  </a:lnTo>
                  <a:lnTo>
                    <a:pt x="59409" y="28005"/>
                  </a:lnTo>
                  <a:lnTo>
                    <a:pt x="99264" y="7398"/>
                  </a:lnTo>
                  <a:lnTo>
                    <a:pt x="145161" y="0"/>
                  </a:lnTo>
                  <a:lnTo>
                    <a:pt x="4857256" y="0"/>
                  </a:lnTo>
                  <a:lnTo>
                    <a:pt x="4903185" y="7355"/>
                  </a:lnTo>
                  <a:lnTo>
                    <a:pt x="4943070" y="27953"/>
                  </a:lnTo>
                  <a:lnTo>
                    <a:pt x="4974520" y="59390"/>
                  </a:lnTo>
                  <a:lnTo>
                    <a:pt x="4995137" y="99274"/>
                  </a:lnTo>
                  <a:lnTo>
                    <a:pt x="5000508" y="133361"/>
                  </a:lnTo>
                </a:path>
              </a:pathLst>
            </a:custGeom>
            <a:ln w="38099">
              <a:solidFill>
                <a:srgbClr val="E1D5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835139" y="3621024"/>
              <a:ext cx="576580" cy="576580"/>
            </a:xfrm>
            <a:custGeom>
              <a:avLst/>
              <a:gdLst/>
              <a:ahLst/>
              <a:cxnLst/>
              <a:rect l="l" t="t" r="r" b="b"/>
              <a:pathLst>
                <a:path w="576579" h="576579">
                  <a:moveTo>
                    <a:pt x="288035" y="576071"/>
                  </a:moveTo>
                  <a:lnTo>
                    <a:pt x="241317" y="572301"/>
                  </a:lnTo>
                  <a:lnTo>
                    <a:pt x="196998" y="561386"/>
                  </a:lnTo>
                  <a:lnTo>
                    <a:pt x="155671" y="543919"/>
                  </a:lnTo>
                  <a:lnTo>
                    <a:pt x="117930" y="520494"/>
                  </a:lnTo>
                  <a:lnTo>
                    <a:pt x="84367" y="491704"/>
                  </a:lnTo>
                  <a:lnTo>
                    <a:pt x="55577" y="458141"/>
                  </a:lnTo>
                  <a:lnTo>
                    <a:pt x="32152" y="420400"/>
                  </a:lnTo>
                  <a:lnTo>
                    <a:pt x="14685" y="379073"/>
                  </a:lnTo>
                  <a:lnTo>
                    <a:pt x="3770" y="334754"/>
                  </a:lnTo>
                  <a:lnTo>
                    <a:pt x="0" y="288035"/>
                  </a:lnTo>
                  <a:lnTo>
                    <a:pt x="3770" y="241317"/>
                  </a:lnTo>
                  <a:lnTo>
                    <a:pt x="14685" y="196998"/>
                  </a:lnTo>
                  <a:lnTo>
                    <a:pt x="32152" y="155671"/>
                  </a:lnTo>
                  <a:lnTo>
                    <a:pt x="55577" y="117930"/>
                  </a:lnTo>
                  <a:lnTo>
                    <a:pt x="84367" y="84367"/>
                  </a:lnTo>
                  <a:lnTo>
                    <a:pt x="117930" y="55577"/>
                  </a:lnTo>
                  <a:lnTo>
                    <a:pt x="155671" y="32152"/>
                  </a:lnTo>
                  <a:lnTo>
                    <a:pt x="196998" y="14685"/>
                  </a:lnTo>
                  <a:lnTo>
                    <a:pt x="241317" y="3770"/>
                  </a:lnTo>
                  <a:lnTo>
                    <a:pt x="288035" y="0"/>
                  </a:lnTo>
                  <a:lnTo>
                    <a:pt x="334754" y="3770"/>
                  </a:lnTo>
                  <a:lnTo>
                    <a:pt x="379073" y="14685"/>
                  </a:lnTo>
                  <a:lnTo>
                    <a:pt x="420400" y="32152"/>
                  </a:lnTo>
                  <a:lnTo>
                    <a:pt x="458141" y="55577"/>
                  </a:lnTo>
                  <a:lnTo>
                    <a:pt x="491704" y="84367"/>
                  </a:lnTo>
                  <a:lnTo>
                    <a:pt x="520494" y="117930"/>
                  </a:lnTo>
                  <a:lnTo>
                    <a:pt x="543919" y="155671"/>
                  </a:lnTo>
                  <a:lnTo>
                    <a:pt x="561386" y="196998"/>
                  </a:lnTo>
                  <a:lnTo>
                    <a:pt x="572301" y="241317"/>
                  </a:lnTo>
                  <a:lnTo>
                    <a:pt x="576071" y="288035"/>
                  </a:lnTo>
                  <a:lnTo>
                    <a:pt x="572301" y="334754"/>
                  </a:lnTo>
                  <a:lnTo>
                    <a:pt x="561386" y="379073"/>
                  </a:lnTo>
                  <a:lnTo>
                    <a:pt x="543919" y="420400"/>
                  </a:lnTo>
                  <a:lnTo>
                    <a:pt x="520494" y="458141"/>
                  </a:lnTo>
                  <a:lnTo>
                    <a:pt x="491704" y="491704"/>
                  </a:lnTo>
                  <a:lnTo>
                    <a:pt x="458141" y="520494"/>
                  </a:lnTo>
                  <a:lnTo>
                    <a:pt x="420400" y="543919"/>
                  </a:lnTo>
                  <a:lnTo>
                    <a:pt x="379073" y="561386"/>
                  </a:lnTo>
                  <a:lnTo>
                    <a:pt x="334754" y="572301"/>
                  </a:lnTo>
                  <a:lnTo>
                    <a:pt x="288035" y="576071"/>
                  </a:lnTo>
                  <a:close/>
                </a:path>
              </a:pathLst>
            </a:custGeom>
            <a:solidFill>
              <a:srgbClr val="F5C4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046723" y="373214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580433" y="3735964"/>
            <a:ext cx="31083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5B2D8E"/>
                </a:solidFill>
                <a:latin typeface="Arial"/>
                <a:cs typeface="Arial"/>
              </a:rPr>
              <a:t>R</a:t>
            </a:r>
            <a:r>
              <a:rPr lang="en-IN" sz="2400" b="1" dirty="0" err="1">
                <a:solidFill>
                  <a:srgbClr val="5B2D8E"/>
                </a:solidFill>
                <a:latin typeface="Arial"/>
                <a:cs typeface="Arial"/>
              </a:rPr>
              <a:t>etrieval</a:t>
            </a:r>
            <a:r>
              <a:rPr lang="en-IN" sz="2400" b="1" dirty="0">
                <a:solidFill>
                  <a:srgbClr val="5B2D8E"/>
                </a:solidFill>
                <a:latin typeface="Arial"/>
                <a:cs typeface="Arial"/>
              </a:rPr>
              <a:t> Agent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1927200" y="3400424"/>
            <a:ext cx="5038725" cy="2457450"/>
            <a:chOff x="11927200" y="3400424"/>
            <a:chExt cx="5038725" cy="2457450"/>
          </a:xfrm>
        </p:grpSpPr>
        <p:sp>
          <p:nvSpPr>
            <p:cNvPr id="23" name="object 23"/>
            <p:cNvSpPr/>
            <p:nvPr/>
          </p:nvSpPr>
          <p:spPr>
            <a:xfrm>
              <a:off x="11946253" y="3419475"/>
              <a:ext cx="4999355" cy="2419350"/>
            </a:xfrm>
            <a:custGeom>
              <a:avLst/>
              <a:gdLst/>
              <a:ahLst/>
              <a:cxnLst/>
              <a:rect l="l" t="t" r="r" b="b"/>
              <a:pathLst>
                <a:path w="4999355" h="2419350">
                  <a:moveTo>
                    <a:pt x="4857367" y="2419349"/>
                  </a:moveTo>
                  <a:lnTo>
                    <a:pt x="145161" y="2419349"/>
                  </a:lnTo>
                  <a:lnTo>
                    <a:pt x="99267" y="2411952"/>
                  </a:lnTo>
                  <a:lnTo>
                    <a:pt x="59418" y="2391350"/>
                  </a:lnTo>
                  <a:lnTo>
                    <a:pt x="27999" y="2359932"/>
                  </a:lnTo>
                  <a:lnTo>
                    <a:pt x="7397" y="2320082"/>
                  </a:lnTo>
                  <a:lnTo>
                    <a:pt x="0" y="2274188"/>
                  </a:lnTo>
                  <a:lnTo>
                    <a:pt x="0" y="145161"/>
                  </a:lnTo>
                  <a:lnTo>
                    <a:pt x="7397" y="99267"/>
                  </a:lnTo>
                  <a:lnTo>
                    <a:pt x="27999" y="59417"/>
                  </a:lnTo>
                  <a:lnTo>
                    <a:pt x="59418" y="27998"/>
                  </a:lnTo>
                  <a:lnTo>
                    <a:pt x="99267" y="7397"/>
                  </a:lnTo>
                  <a:lnTo>
                    <a:pt x="145161" y="0"/>
                  </a:lnTo>
                  <a:lnTo>
                    <a:pt x="4857367" y="0"/>
                  </a:lnTo>
                  <a:lnTo>
                    <a:pt x="4903262" y="7397"/>
                  </a:lnTo>
                  <a:lnTo>
                    <a:pt x="4943112" y="27998"/>
                  </a:lnTo>
                  <a:lnTo>
                    <a:pt x="4974531" y="59417"/>
                  </a:lnTo>
                  <a:lnTo>
                    <a:pt x="4995132" y="99267"/>
                  </a:lnTo>
                  <a:lnTo>
                    <a:pt x="4999359" y="125486"/>
                  </a:lnTo>
                  <a:lnTo>
                    <a:pt x="4999359" y="2293863"/>
                  </a:lnTo>
                  <a:lnTo>
                    <a:pt x="4974531" y="2359932"/>
                  </a:lnTo>
                  <a:lnTo>
                    <a:pt x="4943112" y="2391350"/>
                  </a:lnTo>
                  <a:lnTo>
                    <a:pt x="4903262" y="2411952"/>
                  </a:lnTo>
                  <a:lnTo>
                    <a:pt x="4857367" y="24193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1946250" y="3419474"/>
              <a:ext cx="5000625" cy="2419350"/>
            </a:xfrm>
            <a:custGeom>
              <a:avLst/>
              <a:gdLst/>
              <a:ahLst/>
              <a:cxnLst/>
              <a:rect l="l" t="t" r="r" b="b"/>
              <a:pathLst>
                <a:path w="5000625" h="2419350">
                  <a:moveTo>
                    <a:pt x="5000539" y="2285992"/>
                  </a:moveTo>
                  <a:lnTo>
                    <a:pt x="4974489" y="2359977"/>
                  </a:lnTo>
                  <a:lnTo>
                    <a:pt x="4943071" y="2391395"/>
                  </a:lnTo>
                  <a:lnTo>
                    <a:pt x="4903156" y="2411969"/>
                  </a:lnTo>
                  <a:lnTo>
                    <a:pt x="4857256" y="2419349"/>
                  </a:lnTo>
                  <a:lnTo>
                    <a:pt x="145156" y="2419348"/>
                  </a:lnTo>
                  <a:lnTo>
                    <a:pt x="99257" y="2411945"/>
                  </a:lnTo>
                  <a:lnTo>
                    <a:pt x="59406" y="2391335"/>
                  </a:lnTo>
                  <a:lnTo>
                    <a:pt x="27991" y="2359909"/>
                  </a:lnTo>
                  <a:lnTo>
                    <a:pt x="7397" y="2320056"/>
                  </a:lnTo>
                  <a:lnTo>
                    <a:pt x="3" y="2274163"/>
                  </a:lnTo>
                  <a:lnTo>
                    <a:pt x="0" y="145185"/>
                  </a:lnTo>
                  <a:lnTo>
                    <a:pt x="7390" y="99288"/>
                  </a:lnTo>
                  <a:lnTo>
                    <a:pt x="27988" y="59431"/>
                  </a:lnTo>
                  <a:lnTo>
                    <a:pt x="59408" y="28005"/>
                  </a:lnTo>
                  <a:lnTo>
                    <a:pt x="99264" y="7398"/>
                  </a:lnTo>
                  <a:lnTo>
                    <a:pt x="145161" y="0"/>
                  </a:lnTo>
                  <a:lnTo>
                    <a:pt x="4857256" y="0"/>
                  </a:lnTo>
                  <a:lnTo>
                    <a:pt x="4903185" y="7355"/>
                  </a:lnTo>
                  <a:lnTo>
                    <a:pt x="4943071" y="27953"/>
                  </a:lnTo>
                  <a:lnTo>
                    <a:pt x="4974521" y="59390"/>
                  </a:lnTo>
                  <a:lnTo>
                    <a:pt x="4995137" y="99274"/>
                  </a:lnTo>
                  <a:lnTo>
                    <a:pt x="5000508" y="133362"/>
                  </a:lnTo>
                </a:path>
              </a:pathLst>
            </a:custGeom>
            <a:ln w="38099">
              <a:solidFill>
                <a:srgbClr val="E1D5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2161520" y="3621024"/>
              <a:ext cx="576580" cy="576580"/>
            </a:xfrm>
            <a:custGeom>
              <a:avLst/>
              <a:gdLst/>
              <a:ahLst/>
              <a:cxnLst/>
              <a:rect l="l" t="t" r="r" b="b"/>
              <a:pathLst>
                <a:path w="576579" h="576579">
                  <a:moveTo>
                    <a:pt x="288035" y="576071"/>
                  </a:moveTo>
                  <a:lnTo>
                    <a:pt x="241317" y="572301"/>
                  </a:lnTo>
                  <a:lnTo>
                    <a:pt x="196998" y="561386"/>
                  </a:lnTo>
                  <a:lnTo>
                    <a:pt x="155671" y="543919"/>
                  </a:lnTo>
                  <a:lnTo>
                    <a:pt x="117930" y="520494"/>
                  </a:lnTo>
                  <a:lnTo>
                    <a:pt x="84367" y="491704"/>
                  </a:lnTo>
                  <a:lnTo>
                    <a:pt x="55577" y="458141"/>
                  </a:lnTo>
                  <a:lnTo>
                    <a:pt x="32152" y="420400"/>
                  </a:lnTo>
                  <a:lnTo>
                    <a:pt x="14685" y="379073"/>
                  </a:lnTo>
                  <a:lnTo>
                    <a:pt x="3770" y="334754"/>
                  </a:lnTo>
                  <a:lnTo>
                    <a:pt x="0" y="288035"/>
                  </a:lnTo>
                  <a:lnTo>
                    <a:pt x="3770" y="241317"/>
                  </a:lnTo>
                  <a:lnTo>
                    <a:pt x="14685" y="196998"/>
                  </a:lnTo>
                  <a:lnTo>
                    <a:pt x="32152" y="155671"/>
                  </a:lnTo>
                  <a:lnTo>
                    <a:pt x="55577" y="117930"/>
                  </a:lnTo>
                  <a:lnTo>
                    <a:pt x="84367" y="84367"/>
                  </a:lnTo>
                  <a:lnTo>
                    <a:pt x="117930" y="55577"/>
                  </a:lnTo>
                  <a:lnTo>
                    <a:pt x="155671" y="32152"/>
                  </a:lnTo>
                  <a:lnTo>
                    <a:pt x="196998" y="14685"/>
                  </a:lnTo>
                  <a:lnTo>
                    <a:pt x="241317" y="3770"/>
                  </a:lnTo>
                  <a:lnTo>
                    <a:pt x="288035" y="0"/>
                  </a:lnTo>
                  <a:lnTo>
                    <a:pt x="334754" y="3770"/>
                  </a:lnTo>
                  <a:lnTo>
                    <a:pt x="379073" y="14685"/>
                  </a:lnTo>
                  <a:lnTo>
                    <a:pt x="420400" y="32152"/>
                  </a:lnTo>
                  <a:lnTo>
                    <a:pt x="458141" y="55577"/>
                  </a:lnTo>
                  <a:lnTo>
                    <a:pt x="491703" y="84367"/>
                  </a:lnTo>
                  <a:lnTo>
                    <a:pt x="520494" y="117930"/>
                  </a:lnTo>
                  <a:lnTo>
                    <a:pt x="543919" y="155671"/>
                  </a:lnTo>
                  <a:lnTo>
                    <a:pt x="561386" y="196998"/>
                  </a:lnTo>
                  <a:lnTo>
                    <a:pt x="572301" y="241317"/>
                  </a:lnTo>
                  <a:lnTo>
                    <a:pt x="576071" y="288035"/>
                  </a:lnTo>
                  <a:lnTo>
                    <a:pt x="572301" y="334754"/>
                  </a:lnTo>
                  <a:lnTo>
                    <a:pt x="561386" y="379073"/>
                  </a:lnTo>
                  <a:lnTo>
                    <a:pt x="543919" y="420400"/>
                  </a:lnTo>
                  <a:lnTo>
                    <a:pt x="520494" y="458141"/>
                  </a:lnTo>
                  <a:lnTo>
                    <a:pt x="491703" y="491704"/>
                  </a:lnTo>
                  <a:lnTo>
                    <a:pt x="458141" y="520494"/>
                  </a:lnTo>
                  <a:lnTo>
                    <a:pt x="420400" y="543919"/>
                  </a:lnTo>
                  <a:lnTo>
                    <a:pt x="379073" y="561386"/>
                  </a:lnTo>
                  <a:lnTo>
                    <a:pt x="334754" y="572301"/>
                  </a:lnTo>
                  <a:lnTo>
                    <a:pt x="288035" y="576071"/>
                  </a:lnTo>
                  <a:close/>
                </a:path>
              </a:pathLst>
            </a:custGeom>
            <a:solidFill>
              <a:srgbClr val="F5C4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2373104" y="373214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921487" y="3711996"/>
            <a:ext cx="2269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734C9E"/>
                </a:solidFill>
                <a:latin typeface="Arial"/>
                <a:cs typeface="Arial"/>
              </a:rPr>
              <a:t>A</a:t>
            </a:r>
            <a:r>
              <a:rPr lang="en-IN" sz="2400" b="1" dirty="0" err="1">
                <a:solidFill>
                  <a:srgbClr val="734C9E"/>
                </a:solidFill>
                <a:latin typeface="Arial"/>
                <a:cs typeface="Arial"/>
              </a:rPr>
              <a:t>nalyst</a:t>
            </a:r>
            <a:r>
              <a:rPr lang="en-IN" sz="2400" b="1" dirty="0">
                <a:solidFill>
                  <a:srgbClr val="734C9E"/>
                </a:solidFill>
                <a:latin typeface="Arial"/>
                <a:cs typeface="Arial"/>
              </a:rPr>
              <a:t> Agent 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650202" y="4330795"/>
            <a:ext cx="4064798" cy="1880129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 algn="just">
              <a:lnSpc>
                <a:spcPts val="2850"/>
              </a:lnSpc>
              <a:spcBef>
                <a:spcPts val="219"/>
              </a:spcBef>
            </a:pPr>
            <a:r>
              <a:rPr lang="en-US" sz="2400" dirty="0"/>
              <a:t> Accepts a stock-related question and identifies the required market information and evidence.</a:t>
            </a:r>
          </a:p>
          <a:p>
            <a:pPr marL="12700" marR="5080" algn="just">
              <a:lnSpc>
                <a:spcPts val="2850"/>
              </a:lnSpc>
              <a:spcBef>
                <a:spcPts val="219"/>
              </a:spcBef>
            </a:pPr>
            <a:endParaRPr sz="2400" dirty="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011117" y="4330795"/>
            <a:ext cx="4071620" cy="1492844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lang="en-US" sz="2400" dirty="0"/>
              <a:t>Searches relevant financial data and retrieves supporting information from the knowledge base.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2333602" y="4330795"/>
            <a:ext cx="3973197" cy="1492844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lang="en-US" sz="2400" dirty="0"/>
              <a:t> Analyzes market data, trends, indicators, and retrieved evidence to generate a recommendation.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274441" y="6143625"/>
            <a:ext cx="5038725" cy="2457450"/>
            <a:chOff x="1274441" y="6143625"/>
            <a:chExt cx="5038725" cy="2457450"/>
          </a:xfrm>
        </p:grpSpPr>
        <p:sp>
          <p:nvSpPr>
            <p:cNvPr id="29" name="object 29"/>
            <p:cNvSpPr/>
            <p:nvPr/>
          </p:nvSpPr>
          <p:spPr>
            <a:xfrm>
              <a:off x="1293494" y="6162675"/>
              <a:ext cx="4999355" cy="2419350"/>
            </a:xfrm>
            <a:custGeom>
              <a:avLst/>
              <a:gdLst/>
              <a:ahLst/>
              <a:cxnLst/>
              <a:rect l="l" t="t" r="r" b="b"/>
              <a:pathLst>
                <a:path w="4999355" h="2419350">
                  <a:moveTo>
                    <a:pt x="4857368" y="2419349"/>
                  </a:moveTo>
                  <a:lnTo>
                    <a:pt x="145161" y="2419349"/>
                  </a:lnTo>
                  <a:lnTo>
                    <a:pt x="99267" y="2411952"/>
                  </a:lnTo>
                  <a:lnTo>
                    <a:pt x="59417" y="2391350"/>
                  </a:lnTo>
                  <a:lnTo>
                    <a:pt x="27998" y="2359932"/>
                  </a:lnTo>
                  <a:lnTo>
                    <a:pt x="7397" y="2320082"/>
                  </a:lnTo>
                  <a:lnTo>
                    <a:pt x="0" y="2274188"/>
                  </a:lnTo>
                  <a:lnTo>
                    <a:pt x="0" y="145161"/>
                  </a:lnTo>
                  <a:lnTo>
                    <a:pt x="7397" y="99267"/>
                  </a:lnTo>
                  <a:lnTo>
                    <a:pt x="27998" y="59417"/>
                  </a:lnTo>
                  <a:lnTo>
                    <a:pt x="59417" y="27999"/>
                  </a:lnTo>
                  <a:lnTo>
                    <a:pt x="99267" y="7397"/>
                  </a:lnTo>
                  <a:lnTo>
                    <a:pt x="145161" y="0"/>
                  </a:lnTo>
                  <a:lnTo>
                    <a:pt x="4857368" y="0"/>
                  </a:lnTo>
                  <a:lnTo>
                    <a:pt x="4903262" y="7397"/>
                  </a:lnTo>
                  <a:lnTo>
                    <a:pt x="4943111" y="27999"/>
                  </a:lnTo>
                  <a:lnTo>
                    <a:pt x="4974530" y="59417"/>
                  </a:lnTo>
                  <a:lnTo>
                    <a:pt x="4995132" y="99267"/>
                  </a:lnTo>
                  <a:lnTo>
                    <a:pt x="4999359" y="125492"/>
                  </a:lnTo>
                  <a:lnTo>
                    <a:pt x="4999359" y="2293857"/>
                  </a:lnTo>
                  <a:lnTo>
                    <a:pt x="4974530" y="2359932"/>
                  </a:lnTo>
                  <a:lnTo>
                    <a:pt x="4943111" y="2391350"/>
                  </a:lnTo>
                  <a:lnTo>
                    <a:pt x="4903262" y="2411952"/>
                  </a:lnTo>
                  <a:lnTo>
                    <a:pt x="4857368" y="24193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293491" y="6162675"/>
              <a:ext cx="5000625" cy="2419350"/>
            </a:xfrm>
            <a:custGeom>
              <a:avLst/>
              <a:gdLst/>
              <a:ahLst/>
              <a:cxnLst/>
              <a:rect l="l" t="t" r="r" b="b"/>
              <a:pathLst>
                <a:path w="5000625" h="2419350">
                  <a:moveTo>
                    <a:pt x="5000539" y="2285993"/>
                  </a:moveTo>
                  <a:lnTo>
                    <a:pt x="4974489" y="2359977"/>
                  </a:lnTo>
                  <a:lnTo>
                    <a:pt x="4943071" y="2391395"/>
                  </a:lnTo>
                  <a:lnTo>
                    <a:pt x="4903156" y="2411969"/>
                  </a:lnTo>
                  <a:lnTo>
                    <a:pt x="4857256" y="2419349"/>
                  </a:lnTo>
                  <a:lnTo>
                    <a:pt x="145156" y="2419348"/>
                  </a:lnTo>
                  <a:lnTo>
                    <a:pt x="99257" y="2411945"/>
                  </a:lnTo>
                  <a:lnTo>
                    <a:pt x="59406" y="2391335"/>
                  </a:lnTo>
                  <a:lnTo>
                    <a:pt x="27991" y="2359909"/>
                  </a:lnTo>
                  <a:lnTo>
                    <a:pt x="7397" y="2320056"/>
                  </a:lnTo>
                  <a:lnTo>
                    <a:pt x="3" y="2274163"/>
                  </a:lnTo>
                  <a:lnTo>
                    <a:pt x="0" y="145185"/>
                  </a:lnTo>
                  <a:lnTo>
                    <a:pt x="7390" y="99288"/>
                  </a:lnTo>
                  <a:lnTo>
                    <a:pt x="27988" y="59431"/>
                  </a:lnTo>
                  <a:lnTo>
                    <a:pt x="59409" y="28005"/>
                  </a:lnTo>
                  <a:lnTo>
                    <a:pt x="99264" y="7398"/>
                  </a:lnTo>
                  <a:lnTo>
                    <a:pt x="145161" y="0"/>
                  </a:lnTo>
                  <a:lnTo>
                    <a:pt x="4857256" y="0"/>
                  </a:lnTo>
                  <a:lnTo>
                    <a:pt x="4903185" y="7355"/>
                  </a:lnTo>
                  <a:lnTo>
                    <a:pt x="4943070" y="27954"/>
                  </a:lnTo>
                  <a:lnTo>
                    <a:pt x="4974520" y="59390"/>
                  </a:lnTo>
                  <a:lnTo>
                    <a:pt x="4995137" y="99274"/>
                  </a:lnTo>
                  <a:lnTo>
                    <a:pt x="5000508" y="133361"/>
                  </a:lnTo>
                </a:path>
              </a:pathLst>
            </a:custGeom>
            <a:ln w="38099">
              <a:solidFill>
                <a:srgbClr val="E1D5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508759" y="6364223"/>
              <a:ext cx="576580" cy="576580"/>
            </a:xfrm>
            <a:custGeom>
              <a:avLst/>
              <a:gdLst/>
              <a:ahLst/>
              <a:cxnLst/>
              <a:rect l="l" t="t" r="r" b="b"/>
              <a:pathLst>
                <a:path w="576580" h="576579">
                  <a:moveTo>
                    <a:pt x="288036" y="576071"/>
                  </a:moveTo>
                  <a:lnTo>
                    <a:pt x="241317" y="572301"/>
                  </a:lnTo>
                  <a:lnTo>
                    <a:pt x="196998" y="561386"/>
                  </a:lnTo>
                  <a:lnTo>
                    <a:pt x="155671" y="543919"/>
                  </a:lnTo>
                  <a:lnTo>
                    <a:pt x="117930" y="520494"/>
                  </a:lnTo>
                  <a:lnTo>
                    <a:pt x="84367" y="491704"/>
                  </a:lnTo>
                  <a:lnTo>
                    <a:pt x="55577" y="458141"/>
                  </a:lnTo>
                  <a:lnTo>
                    <a:pt x="32152" y="420400"/>
                  </a:lnTo>
                  <a:lnTo>
                    <a:pt x="14685" y="379073"/>
                  </a:lnTo>
                  <a:lnTo>
                    <a:pt x="3770" y="334754"/>
                  </a:lnTo>
                  <a:lnTo>
                    <a:pt x="0" y="288035"/>
                  </a:lnTo>
                  <a:lnTo>
                    <a:pt x="3770" y="241317"/>
                  </a:lnTo>
                  <a:lnTo>
                    <a:pt x="14685" y="196998"/>
                  </a:lnTo>
                  <a:lnTo>
                    <a:pt x="32152" y="155671"/>
                  </a:lnTo>
                  <a:lnTo>
                    <a:pt x="55577" y="117930"/>
                  </a:lnTo>
                  <a:lnTo>
                    <a:pt x="84367" y="84367"/>
                  </a:lnTo>
                  <a:lnTo>
                    <a:pt x="117930" y="55577"/>
                  </a:lnTo>
                  <a:lnTo>
                    <a:pt x="155671" y="32152"/>
                  </a:lnTo>
                  <a:lnTo>
                    <a:pt x="196998" y="14685"/>
                  </a:lnTo>
                  <a:lnTo>
                    <a:pt x="241317" y="3770"/>
                  </a:lnTo>
                  <a:lnTo>
                    <a:pt x="288036" y="0"/>
                  </a:lnTo>
                  <a:lnTo>
                    <a:pt x="334754" y="3770"/>
                  </a:lnTo>
                  <a:lnTo>
                    <a:pt x="379073" y="14685"/>
                  </a:lnTo>
                  <a:lnTo>
                    <a:pt x="420400" y="32152"/>
                  </a:lnTo>
                  <a:lnTo>
                    <a:pt x="458141" y="55577"/>
                  </a:lnTo>
                  <a:lnTo>
                    <a:pt x="491704" y="84367"/>
                  </a:lnTo>
                  <a:lnTo>
                    <a:pt x="520494" y="117930"/>
                  </a:lnTo>
                  <a:lnTo>
                    <a:pt x="543920" y="155671"/>
                  </a:lnTo>
                  <a:lnTo>
                    <a:pt x="561386" y="196998"/>
                  </a:lnTo>
                  <a:lnTo>
                    <a:pt x="572301" y="241317"/>
                  </a:lnTo>
                  <a:lnTo>
                    <a:pt x="576072" y="288035"/>
                  </a:lnTo>
                  <a:lnTo>
                    <a:pt x="572301" y="334754"/>
                  </a:lnTo>
                  <a:lnTo>
                    <a:pt x="561386" y="379073"/>
                  </a:lnTo>
                  <a:lnTo>
                    <a:pt x="543920" y="420400"/>
                  </a:lnTo>
                  <a:lnTo>
                    <a:pt x="520494" y="458141"/>
                  </a:lnTo>
                  <a:lnTo>
                    <a:pt x="491704" y="491704"/>
                  </a:lnTo>
                  <a:lnTo>
                    <a:pt x="458141" y="520494"/>
                  </a:lnTo>
                  <a:lnTo>
                    <a:pt x="420400" y="543919"/>
                  </a:lnTo>
                  <a:lnTo>
                    <a:pt x="379073" y="561386"/>
                  </a:lnTo>
                  <a:lnTo>
                    <a:pt x="334754" y="572301"/>
                  </a:lnTo>
                  <a:lnTo>
                    <a:pt x="288036" y="576071"/>
                  </a:lnTo>
                  <a:close/>
                </a:path>
              </a:pathLst>
            </a:custGeom>
            <a:solidFill>
              <a:srgbClr val="F5C4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720343" y="647534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4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154553" y="6292898"/>
            <a:ext cx="305724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b="1" dirty="0">
                <a:solidFill>
                  <a:srgbClr val="5B2D8E"/>
                </a:solidFill>
                <a:latin typeface="Arial"/>
                <a:cs typeface="Arial"/>
              </a:rPr>
              <a:t>Bull</a:t>
            </a:r>
            <a:r>
              <a:rPr sz="2400" b="1" dirty="0">
                <a:solidFill>
                  <a:srgbClr val="5B2D8E"/>
                </a:solidFill>
                <a:latin typeface="Arial"/>
                <a:cs typeface="Arial"/>
              </a:rPr>
              <a:t> + </a:t>
            </a:r>
            <a:r>
              <a:rPr lang="en-IN" sz="2400" b="1" spc="-10" dirty="0">
                <a:solidFill>
                  <a:srgbClr val="5B2D8E"/>
                </a:solidFill>
                <a:latin typeface="Arial"/>
                <a:cs typeface="Arial"/>
              </a:rPr>
              <a:t>Bear Agent</a:t>
            </a:r>
            <a:r>
              <a:rPr sz="2400" spc="-10" dirty="0">
                <a:solidFill>
                  <a:srgbClr val="746A85"/>
                </a:solidFill>
                <a:latin typeface="Arial MT"/>
                <a:cs typeface="Arial MT"/>
              </a:rPr>
              <a:t>.</a:t>
            </a:r>
            <a:endParaRPr sz="2400" dirty="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600820" y="6143625"/>
            <a:ext cx="5038725" cy="2457450"/>
            <a:chOff x="6600820" y="6143625"/>
            <a:chExt cx="5038725" cy="2457450"/>
          </a:xfrm>
        </p:grpSpPr>
        <p:sp>
          <p:nvSpPr>
            <p:cNvPr id="35" name="object 35"/>
            <p:cNvSpPr/>
            <p:nvPr/>
          </p:nvSpPr>
          <p:spPr>
            <a:xfrm>
              <a:off x="6619873" y="6162675"/>
              <a:ext cx="4999355" cy="2419350"/>
            </a:xfrm>
            <a:custGeom>
              <a:avLst/>
              <a:gdLst/>
              <a:ahLst/>
              <a:cxnLst/>
              <a:rect l="l" t="t" r="r" b="b"/>
              <a:pathLst>
                <a:path w="4999355" h="2419350">
                  <a:moveTo>
                    <a:pt x="4857368" y="2419349"/>
                  </a:moveTo>
                  <a:lnTo>
                    <a:pt x="145161" y="2419349"/>
                  </a:lnTo>
                  <a:lnTo>
                    <a:pt x="99267" y="2411952"/>
                  </a:lnTo>
                  <a:lnTo>
                    <a:pt x="59417" y="2391350"/>
                  </a:lnTo>
                  <a:lnTo>
                    <a:pt x="27999" y="2359932"/>
                  </a:lnTo>
                  <a:lnTo>
                    <a:pt x="7397" y="2320082"/>
                  </a:lnTo>
                  <a:lnTo>
                    <a:pt x="0" y="2274188"/>
                  </a:lnTo>
                  <a:lnTo>
                    <a:pt x="0" y="145161"/>
                  </a:lnTo>
                  <a:lnTo>
                    <a:pt x="7397" y="99267"/>
                  </a:lnTo>
                  <a:lnTo>
                    <a:pt x="27999" y="59417"/>
                  </a:lnTo>
                  <a:lnTo>
                    <a:pt x="59417" y="27999"/>
                  </a:lnTo>
                  <a:lnTo>
                    <a:pt x="99267" y="7397"/>
                  </a:lnTo>
                  <a:lnTo>
                    <a:pt x="145161" y="0"/>
                  </a:lnTo>
                  <a:lnTo>
                    <a:pt x="4857368" y="0"/>
                  </a:lnTo>
                  <a:lnTo>
                    <a:pt x="4903262" y="7397"/>
                  </a:lnTo>
                  <a:lnTo>
                    <a:pt x="4943111" y="27999"/>
                  </a:lnTo>
                  <a:lnTo>
                    <a:pt x="4974530" y="59417"/>
                  </a:lnTo>
                  <a:lnTo>
                    <a:pt x="4995132" y="99267"/>
                  </a:lnTo>
                  <a:lnTo>
                    <a:pt x="4999359" y="125491"/>
                  </a:lnTo>
                  <a:lnTo>
                    <a:pt x="4999359" y="2293858"/>
                  </a:lnTo>
                  <a:lnTo>
                    <a:pt x="4974530" y="2359932"/>
                  </a:lnTo>
                  <a:lnTo>
                    <a:pt x="4943111" y="2391350"/>
                  </a:lnTo>
                  <a:lnTo>
                    <a:pt x="4903262" y="2411952"/>
                  </a:lnTo>
                  <a:lnTo>
                    <a:pt x="4857368" y="24193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619870" y="6162675"/>
              <a:ext cx="5000625" cy="2419350"/>
            </a:xfrm>
            <a:custGeom>
              <a:avLst/>
              <a:gdLst/>
              <a:ahLst/>
              <a:cxnLst/>
              <a:rect l="l" t="t" r="r" b="b"/>
              <a:pathLst>
                <a:path w="5000625" h="2419350">
                  <a:moveTo>
                    <a:pt x="5000539" y="2285993"/>
                  </a:moveTo>
                  <a:lnTo>
                    <a:pt x="4974489" y="2359977"/>
                  </a:lnTo>
                  <a:lnTo>
                    <a:pt x="4943071" y="2391395"/>
                  </a:lnTo>
                  <a:lnTo>
                    <a:pt x="4903156" y="2411969"/>
                  </a:lnTo>
                  <a:lnTo>
                    <a:pt x="4857256" y="2419349"/>
                  </a:lnTo>
                  <a:lnTo>
                    <a:pt x="145156" y="2419348"/>
                  </a:lnTo>
                  <a:lnTo>
                    <a:pt x="99257" y="2411945"/>
                  </a:lnTo>
                  <a:lnTo>
                    <a:pt x="59406" y="2391335"/>
                  </a:lnTo>
                  <a:lnTo>
                    <a:pt x="27991" y="2359909"/>
                  </a:lnTo>
                  <a:lnTo>
                    <a:pt x="7397" y="2320056"/>
                  </a:lnTo>
                  <a:lnTo>
                    <a:pt x="3" y="2274163"/>
                  </a:lnTo>
                  <a:lnTo>
                    <a:pt x="0" y="145185"/>
                  </a:lnTo>
                  <a:lnTo>
                    <a:pt x="7390" y="99288"/>
                  </a:lnTo>
                  <a:lnTo>
                    <a:pt x="27988" y="59431"/>
                  </a:lnTo>
                  <a:lnTo>
                    <a:pt x="59409" y="28005"/>
                  </a:lnTo>
                  <a:lnTo>
                    <a:pt x="99264" y="7398"/>
                  </a:lnTo>
                  <a:lnTo>
                    <a:pt x="145161" y="0"/>
                  </a:lnTo>
                  <a:lnTo>
                    <a:pt x="4857256" y="0"/>
                  </a:lnTo>
                  <a:lnTo>
                    <a:pt x="4903185" y="7355"/>
                  </a:lnTo>
                  <a:lnTo>
                    <a:pt x="4943070" y="27953"/>
                  </a:lnTo>
                  <a:lnTo>
                    <a:pt x="4974520" y="59390"/>
                  </a:lnTo>
                  <a:lnTo>
                    <a:pt x="4995137" y="99274"/>
                  </a:lnTo>
                  <a:lnTo>
                    <a:pt x="5000508" y="133361"/>
                  </a:lnTo>
                </a:path>
              </a:pathLst>
            </a:custGeom>
            <a:ln w="38099">
              <a:solidFill>
                <a:srgbClr val="E1D5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835139" y="6364223"/>
              <a:ext cx="576580" cy="576580"/>
            </a:xfrm>
            <a:custGeom>
              <a:avLst/>
              <a:gdLst/>
              <a:ahLst/>
              <a:cxnLst/>
              <a:rect l="l" t="t" r="r" b="b"/>
              <a:pathLst>
                <a:path w="576579" h="576579">
                  <a:moveTo>
                    <a:pt x="288035" y="576071"/>
                  </a:moveTo>
                  <a:lnTo>
                    <a:pt x="241317" y="572301"/>
                  </a:lnTo>
                  <a:lnTo>
                    <a:pt x="196998" y="561386"/>
                  </a:lnTo>
                  <a:lnTo>
                    <a:pt x="155671" y="543919"/>
                  </a:lnTo>
                  <a:lnTo>
                    <a:pt x="117930" y="520494"/>
                  </a:lnTo>
                  <a:lnTo>
                    <a:pt x="84367" y="491704"/>
                  </a:lnTo>
                  <a:lnTo>
                    <a:pt x="55577" y="458141"/>
                  </a:lnTo>
                  <a:lnTo>
                    <a:pt x="32152" y="420400"/>
                  </a:lnTo>
                  <a:lnTo>
                    <a:pt x="14685" y="379073"/>
                  </a:lnTo>
                  <a:lnTo>
                    <a:pt x="3770" y="334754"/>
                  </a:lnTo>
                  <a:lnTo>
                    <a:pt x="0" y="288035"/>
                  </a:lnTo>
                  <a:lnTo>
                    <a:pt x="3770" y="241317"/>
                  </a:lnTo>
                  <a:lnTo>
                    <a:pt x="14685" y="196998"/>
                  </a:lnTo>
                  <a:lnTo>
                    <a:pt x="32152" y="155671"/>
                  </a:lnTo>
                  <a:lnTo>
                    <a:pt x="55577" y="117930"/>
                  </a:lnTo>
                  <a:lnTo>
                    <a:pt x="84367" y="84367"/>
                  </a:lnTo>
                  <a:lnTo>
                    <a:pt x="117930" y="55577"/>
                  </a:lnTo>
                  <a:lnTo>
                    <a:pt x="155671" y="32152"/>
                  </a:lnTo>
                  <a:lnTo>
                    <a:pt x="196998" y="14685"/>
                  </a:lnTo>
                  <a:lnTo>
                    <a:pt x="241317" y="3770"/>
                  </a:lnTo>
                  <a:lnTo>
                    <a:pt x="288035" y="0"/>
                  </a:lnTo>
                  <a:lnTo>
                    <a:pt x="334754" y="3770"/>
                  </a:lnTo>
                  <a:lnTo>
                    <a:pt x="379073" y="14685"/>
                  </a:lnTo>
                  <a:lnTo>
                    <a:pt x="420400" y="32152"/>
                  </a:lnTo>
                  <a:lnTo>
                    <a:pt x="458141" y="55577"/>
                  </a:lnTo>
                  <a:lnTo>
                    <a:pt x="491704" y="84367"/>
                  </a:lnTo>
                  <a:lnTo>
                    <a:pt x="520494" y="117930"/>
                  </a:lnTo>
                  <a:lnTo>
                    <a:pt x="543919" y="155671"/>
                  </a:lnTo>
                  <a:lnTo>
                    <a:pt x="561386" y="196998"/>
                  </a:lnTo>
                  <a:lnTo>
                    <a:pt x="572301" y="241317"/>
                  </a:lnTo>
                  <a:lnTo>
                    <a:pt x="576071" y="288035"/>
                  </a:lnTo>
                  <a:lnTo>
                    <a:pt x="572301" y="334754"/>
                  </a:lnTo>
                  <a:lnTo>
                    <a:pt x="561386" y="379073"/>
                  </a:lnTo>
                  <a:lnTo>
                    <a:pt x="543919" y="420400"/>
                  </a:lnTo>
                  <a:lnTo>
                    <a:pt x="520494" y="458141"/>
                  </a:lnTo>
                  <a:lnTo>
                    <a:pt x="491704" y="491704"/>
                  </a:lnTo>
                  <a:lnTo>
                    <a:pt x="458141" y="520494"/>
                  </a:lnTo>
                  <a:lnTo>
                    <a:pt x="420400" y="543919"/>
                  </a:lnTo>
                  <a:lnTo>
                    <a:pt x="379073" y="561386"/>
                  </a:lnTo>
                  <a:lnTo>
                    <a:pt x="334754" y="572301"/>
                  </a:lnTo>
                  <a:lnTo>
                    <a:pt x="288035" y="576071"/>
                  </a:lnTo>
                  <a:close/>
                </a:path>
              </a:pathLst>
            </a:custGeom>
            <a:solidFill>
              <a:srgbClr val="F5C4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7046723" y="647534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645120" y="6463347"/>
            <a:ext cx="256603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b="1" dirty="0" err="1">
                <a:solidFill>
                  <a:srgbClr val="5B2D8E"/>
                </a:solidFill>
                <a:latin typeface="Arial"/>
                <a:cs typeface="Arial"/>
              </a:rPr>
              <a:t>Critic+</a:t>
            </a:r>
            <a:r>
              <a:rPr lang="en-IN" sz="2400" b="1" spc="-10" dirty="0" err="1">
                <a:solidFill>
                  <a:srgbClr val="5B2D8E"/>
                </a:solidFill>
                <a:latin typeface="Arial"/>
                <a:cs typeface="Arial"/>
              </a:rPr>
              <a:t>Correction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11927200" y="6143625"/>
            <a:ext cx="5038725" cy="2457450"/>
            <a:chOff x="11927200" y="6143625"/>
            <a:chExt cx="5038725" cy="2457450"/>
          </a:xfrm>
        </p:grpSpPr>
        <p:sp>
          <p:nvSpPr>
            <p:cNvPr id="41" name="object 41"/>
            <p:cNvSpPr/>
            <p:nvPr/>
          </p:nvSpPr>
          <p:spPr>
            <a:xfrm>
              <a:off x="11946253" y="6162675"/>
              <a:ext cx="4999355" cy="2419350"/>
            </a:xfrm>
            <a:custGeom>
              <a:avLst/>
              <a:gdLst/>
              <a:ahLst/>
              <a:cxnLst/>
              <a:rect l="l" t="t" r="r" b="b"/>
              <a:pathLst>
                <a:path w="4999355" h="2419350">
                  <a:moveTo>
                    <a:pt x="4857367" y="2419349"/>
                  </a:moveTo>
                  <a:lnTo>
                    <a:pt x="145161" y="2419349"/>
                  </a:lnTo>
                  <a:lnTo>
                    <a:pt x="99267" y="2411952"/>
                  </a:lnTo>
                  <a:lnTo>
                    <a:pt x="59418" y="2391350"/>
                  </a:lnTo>
                  <a:lnTo>
                    <a:pt x="27999" y="2359932"/>
                  </a:lnTo>
                  <a:lnTo>
                    <a:pt x="7397" y="2320082"/>
                  </a:lnTo>
                  <a:lnTo>
                    <a:pt x="0" y="2274188"/>
                  </a:lnTo>
                  <a:lnTo>
                    <a:pt x="0" y="145161"/>
                  </a:lnTo>
                  <a:lnTo>
                    <a:pt x="7397" y="99267"/>
                  </a:lnTo>
                  <a:lnTo>
                    <a:pt x="27999" y="59417"/>
                  </a:lnTo>
                  <a:lnTo>
                    <a:pt x="59418" y="27999"/>
                  </a:lnTo>
                  <a:lnTo>
                    <a:pt x="99267" y="7397"/>
                  </a:lnTo>
                  <a:lnTo>
                    <a:pt x="145161" y="0"/>
                  </a:lnTo>
                  <a:lnTo>
                    <a:pt x="4857367" y="0"/>
                  </a:lnTo>
                  <a:lnTo>
                    <a:pt x="4903262" y="7397"/>
                  </a:lnTo>
                  <a:lnTo>
                    <a:pt x="4943112" y="27999"/>
                  </a:lnTo>
                  <a:lnTo>
                    <a:pt x="4974531" y="59417"/>
                  </a:lnTo>
                  <a:lnTo>
                    <a:pt x="4995132" y="99267"/>
                  </a:lnTo>
                  <a:lnTo>
                    <a:pt x="4999359" y="125486"/>
                  </a:lnTo>
                  <a:lnTo>
                    <a:pt x="4999359" y="2293863"/>
                  </a:lnTo>
                  <a:lnTo>
                    <a:pt x="4974531" y="2359932"/>
                  </a:lnTo>
                  <a:lnTo>
                    <a:pt x="4943112" y="2391350"/>
                  </a:lnTo>
                  <a:lnTo>
                    <a:pt x="4903262" y="2411952"/>
                  </a:lnTo>
                  <a:lnTo>
                    <a:pt x="4857367" y="24193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1946250" y="6162674"/>
              <a:ext cx="5000625" cy="2419350"/>
            </a:xfrm>
            <a:custGeom>
              <a:avLst/>
              <a:gdLst/>
              <a:ahLst/>
              <a:cxnLst/>
              <a:rect l="l" t="t" r="r" b="b"/>
              <a:pathLst>
                <a:path w="5000625" h="2419350">
                  <a:moveTo>
                    <a:pt x="5000539" y="2285992"/>
                  </a:moveTo>
                  <a:lnTo>
                    <a:pt x="4974489" y="2359977"/>
                  </a:lnTo>
                  <a:lnTo>
                    <a:pt x="4943071" y="2391395"/>
                  </a:lnTo>
                  <a:lnTo>
                    <a:pt x="4903156" y="2411969"/>
                  </a:lnTo>
                  <a:lnTo>
                    <a:pt x="4857256" y="2419349"/>
                  </a:lnTo>
                  <a:lnTo>
                    <a:pt x="145156" y="2419348"/>
                  </a:lnTo>
                  <a:lnTo>
                    <a:pt x="99257" y="2411945"/>
                  </a:lnTo>
                  <a:lnTo>
                    <a:pt x="59406" y="2391335"/>
                  </a:lnTo>
                  <a:lnTo>
                    <a:pt x="27991" y="2359909"/>
                  </a:lnTo>
                  <a:lnTo>
                    <a:pt x="7397" y="2320056"/>
                  </a:lnTo>
                  <a:lnTo>
                    <a:pt x="3" y="2274163"/>
                  </a:lnTo>
                  <a:lnTo>
                    <a:pt x="0" y="145185"/>
                  </a:lnTo>
                  <a:lnTo>
                    <a:pt x="7390" y="99288"/>
                  </a:lnTo>
                  <a:lnTo>
                    <a:pt x="27988" y="59431"/>
                  </a:lnTo>
                  <a:lnTo>
                    <a:pt x="59408" y="28005"/>
                  </a:lnTo>
                  <a:lnTo>
                    <a:pt x="99264" y="7398"/>
                  </a:lnTo>
                  <a:lnTo>
                    <a:pt x="145161" y="0"/>
                  </a:lnTo>
                  <a:lnTo>
                    <a:pt x="4857256" y="0"/>
                  </a:lnTo>
                  <a:lnTo>
                    <a:pt x="4903185" y="7355"/>
                  </a:lnTo>
                  <a:lnTo>
                    <a:pt x="4943070" y="27953"/>
                  </a:lnTo>
                  <a:lnTo>
                    <a:pt x="4974521" y="59390"/>
                  </a:lnTo>
                  <a:lnTo>
                    <a:pt x="4995137" y="99274"/>
                  </a:lnTo>
                  <a:lnTo>
                    <a:pt x="5000508" y="133362"/>
                  </a:lnTo>
                </a:path>
              </a:pathLst>
            </a:custGeom>
            <a:ln w="38099">
              <a:solidFill>
                <a:srgbClr val="E1D5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2161520" y="6364223"/>
              <a:ext cx="576580" cy="576580"/>
            </a:xfrm>
            <a:custGeom>
              <a:avLst/>
              <a:gdLst/>
              <a:ahLst/>
              <a:cxnLst/>
              <a:rect l="l" t="t" r="r" b="b"/>
              <a:pathLst>
                <a:path w="576579" h="576579">
                  <a:moveTo>
                    <a:pt x="288035" y="576071"/>
                  </a:moveTo>
                  <a:lnTo>
                    <a:pt x="241317" y="572301"/>
                  </a:lnTo>
                  <a:lnTo>
                    <a:pt x="196998" y="561386"/>
                  </a:lnTo>
                  <a:lnTo>
                    <a:pt x="155671" y="543919"/>
                  </a:lnTo>
                  <a:lnTo>
                    <a:pt x="117930" y="520494"/>
                  </a:lnTo>
                  <a:lnTo>
                    <a:pt x="84367" y="491704"/>
                  </a:lnTo>
                  <a:lnTo>
                    <a:pt x="55577" y="458141"/>
                  </a:lnTo>
                  <a:lnTo>
                    <a:pt x="32152" y="420400"/>
                  </a:lnTo>
                  <a:lnTo>
                    <a:pt x="14685" y="379073"/>
                  </a:lnTo>
                  <a:lnTo>
                    <a:pt x="3770" y="334754"/>
                  </a:lnTo>
                  <a:lnTo>
                    <a:pt x="0" y="288035"/>
                  </a:lnTo>
                  <a:lnTo>
                    <a:pt x="3770" y="241317"/>
                  </a:lnTo>
                  <a:lnTo>
                    <a:pt x="14685" y="196998"/>
                  </a:lnTo>
                  <a:lnTo>
                    <a:pt x="32152" y="155671"/>
                  </a:lnTo>
                  <a:lnTo>
                    <a:pt x="55577" y="117930"/>
                  </a:lnTo>
                  <a:lnTo>
                    <a:pt x="84367" y="84367"/>
                  </a:lnTo>
                  <a:lnTo>
                    <a:pt x="117930" y="55577"/>
                  </a:lnTo>
                  <a:lnTo>
                    <a:pt x="155671" y="32152"/>
                  </a:lnTo>
                  <a:lnTo>
                    <a:pt x="196998" y="14685"/>
                  </a:lnTo>
                  <a:lnTo>
                    <a:pt x="241317" y="3770"/>
                  </a:lnTo>
                  <a:lnTo>
                    <a:pt x="288035" y="0"/>
                  </a:lnTo>
                  <a:lnTo>
                    <a:pt x="334754" y="3770"/>
                  </a:lnTo>
                  <a:lnTo>
                    <a:pt x="379073" y="14685"/>
                  </a:lnTo>
                  <a:lnTo>
                    <a:pt x="420400" y="32152"/>
                  </a:lnTo>
                  <a:lnTo>
                    <a:pt x="458141" y="55577"/>
                  </a:lnTo>
                  <a:lnTo>
                    <a:pt x="491703" y="84367"/>
                  </a:lnTo>
                  <a:lnTo>
                    <a:pt x="520494" y="117930"/>
                  </a:lnTo>
                  <a:lnTo>
                    <a:pt x="543919" y="155671"/>
                  </a:lnTo>
                  <a:lnTo>
                    <a:pt x="561386" y="196998"/>
                  </a:lnTo>
                  <a:lnTo>
                    <a:pt x="572301" y="241317"/>
                  </a:lnTo>
                  <a:lnTo>
                    <a:pt x="576071" y="288035"/>
                  </a:lnTo>
                  <a:lnTo>
                    <a:pt x="572301" y="334754"/>
                  </a:lnTo>
                  <a:lnTo>
                    <a:pt x="561386" y="379073"/>
                  </a:lnTo>
                  <a:lnTo>
                    <a:pt x="543919" y="420400"/>
                  </a:lnTo>
                  <a:lnTo>
                    <a:pt x="520494" y="458141"/>
                  </a:lnTo>
                  <a:lnTo>
                    <a:pt x="491703" y="491704"/>
                  </a:lnTo>
                  <a:lnTo>
                    <a:pt x="458141" y="520494"/>
                  </a:lnTo>
                  <a:lnTo>
                    <a:pt x="420400" y="543919"/>
                  </a:lnTo>
                  <a:lnTo>
                    <a:pt x="379073" y="561386"/>
                  </a:lnTo>
                  <a:lnTo>
                    <a:pt x="334754" y="572301"/>
                  </a:lnTo>
                  <a:lnTo>
                    <a:pt x="288035" y="576071"/>
                  </a:lnTo>
                  <a:close/>
                </a:path>
              </a:pathLst>
            </a:custGeom>
            <a:solidFill>
              <a:srgbClr val="F5C4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12373104" y="647534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6</a:t>
            </a:r>
            <a:endParaRPr sz="18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2816997" y="6207618"/>
            <a:ext cx="252349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5B2D8E"/>
                </a:solidFill>
                <a:latin typeface="Arial"/>
                <a:cs typeface="Arial"/>
              </a:rPr>
              <a:t>R</a:t>
            </a:r>
            <a:r>
              <a:rPr lang="en-IN" sz="2400" b="1" dirty="0" err="1">
                <a:solidFill>
                  <a:srgbClr val="5B2D8E"/>
                </a:solidFill>
                <a:latin typeface="Arial"/>
                <a:cs typeface="Arial"/>
              </a:rPr>
              <a:t>isk</a:t>
            </a:r>
            <a:r>
              <a:rPr lang="en-IN" sz="2400" b="1" dirty="0">
                <a:solidFill>
                  <a:srgbClr val="5B2D8E"/>
                </a:solidFill>
                <a:latin typeface="Arial"/>
                <a:cs typeface="Arial"/>
              </a:rPr>
              <a:t> Control</a:t>
            </a:r>
            <a:r>
              <a:rPr sz="2400" b="1" dirty="0">
                <a:solidFill>
                  <a:srgbClr val="5B2D8E"/>
                </a:solidFill>
                <a:latin typeface="Arial"/>
                <a:cs typeface="Arial"/>
              </a:rPr>
              <a:t> + </a:t>
            </a:r>
            <a:r>
              <a:rPr lang="en-IN" sz="2400" b="1" spc="-20" dirty="0">
                <a:solidFill>
                  <a:srgbClr val="5B2D8E"/>
                </a:solidFill>
                <a:latin typeface="Arial"/>
                <a:cs typeface="Arial"/>
              </a:rPr>
              <a:t>Approval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958939" y="6828353"/>
            <a:ext cx="3851910" cy="1492844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lang="en-US" sz="2400" dirty="0"/>
              <a:t>Provides opposing perspectives by identifying potential opportunities, risks, and weaknesses.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011117" y="7194391"/>
            <a:ext cx="4324901" cy="1120947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lang="en-US" sz="2400" dirty="0"/>
              <a:t>Critically evaluates the analysis and improves the response based on identified issues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2333602" y="7013416"/>
            <a:ext cx="4612005" cy="1492844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lang="en-US" sz="2400" dirty="0"/>
              <a:t>Applies deterministic risk limits and sends the proposal for human approval before paper-trading execution.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8915" y="9299219"/>
            <a:ext cx="16917035" cy="14604"/>
          </a:xfrm>
          <a:custGeom>
            <a:avLst/>
            <a:gdLst/>
            <a:ahLst/>
            <a:cxnLst/>
            <a:rect l="l" t="t" r="r" b="b"/>
            <a:pathLst>
              <a:path w="16917035" h="14604">
                <a:moveTo>
                  <a:pt x="0" y="0"/>
                </a:moveTo>
                <a:lnTo>
                  <a:pt x="16916593" y="14171"/>
                </a:lnTo>
              </a:path>
            </a:pathLst>
          </a:custGeom>
          <a:ln w="9524">
            <a:solidFill>
              <a:srgbClr val="E2D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530">
              <a:lnSpc>
                <a:spcPts val="1760"/>
              </a:lnSpc>
            </a:pPr>
            <a:r>
              <a:rPr dirty="0"/>
              <a:t>Final</a:t>
            </a:r>
            <a:r>
              <a:rPr spc="-35" dirty="0"/>
              <a:t> </a:t>
            </a:r>
            <a:r>
              <a:rPr spc="-10" dirty="0"/>
              <a:t>review</a:t>
            </a:r>
          </a:p>
        </p:txBody>
      </p:sp>
      <p:sp>
        <p:nvSpPr>
          <p:cNvPr id="53" name="object 5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3408" rIns="0" bIns="0" rtlCol="0">
            <a:spAutoFit/>
          </a:bodyPr>
          <a:lstStyle/>
          <a:p>
            <a:pPr marL="115570">
              <a:lnSpc>
                <a:spcPts val="1760"/>
              </a:lnSpc>
            </a:pPr>
            <a:r>
              <a:rPr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Artificial</a:t>
            </a:r>
            <a:r>
              <a:rPr spc="-45" dirty="0"/>
              <a:t> </a:t>
            </a:r>
            <a:r>
              <a:rPr dirty="0"/>
              <a:t>Intelligence</a:t>
            </a:r>
            <a:r>
              <a:rPr spc="-5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Machine</a:t>
            </a:r>
            <a:r>
              <a:rPr spc="-45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E95D0A5-175A-09D0-E16D-9820608D5DF2}"/>
              </a:ext>
            </a:extLst>
          </p:cNvPr>
          <p:cNvSpPr txBox="1"/>
          <p:nvPr/>
        </p:nvSpPr>
        <p:spPr>
          <a:xfrm>
            <a:off x="685800" y="579120"/>
            <a:ext cx="7028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3</a:t>
            </a:r>
            <a:endParaRPr lang="en-IN" sz="40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793429" y="723030"/>
            <a:ext cx="61912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1" spc="-25" dirty="0">
                <a:latin typeface="Arial"/>
                <a:cs typeface="Arial"/>
              </a:rPr>
              <a:t>10</a:t>
            </a:r>
            <a:endParaRPr sz="4200">
              <a:latin typeface="Arial"/>
              <a:cs typeface="Arial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3073" rIns="0" bIns="0" rtlCol="0">
            <a:spAutoFit/>
          </a:bodyPr>
          <a:lstStyle/>
          <a:p>
            <a:pPr marL="139700">
              <a:lnSpc>
                <a:spcPct val="100000"/>
              </a:lnSpc>
              <a:spcBef>
                <a:spcPts val="100"/>
              </a:spcBef>
            </a:pPr>
            <a:r>
              <a:rPr dirty="0"/>
              <a:t>System</a:t>
            </a:r>
            <a:r>
              <a:rPr spc="-204" dirty="0"/>
              <a:t> </a:t>
            </a:r>
            <a:r>
              <a:rPr dirty="0"/>
              <a:t>Architecture:</a:t>
            </a:r>
            <a:r>
              <a:rPr spc="-204" dirty="0"/>
              <a:t> </a:t>
            </a:r>
            <a:r>
              <a:rPr dirty="0"/>
              <a:t>Tiered</a:t>
            </a:r>
            <a:r>
              <a:rPr spc="-204" dirty="0"/>
              <a:t> </a:t>
            </a:r>
            <a:r>
              <a:rPr spc="-20" dirty="0"/>
              <a:t>View</a:t>
            </a: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09197" y="261585"/>
            <a:ext cx="3575612" cy="143234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964655" y="1652777"/>
            <a:ext cx="1920239" cy="75565"/>
          </a:xfrm>
          <a:custGeom>
            <a:avLst/>
            <a:gdLst/>
            <a:ahLst/>
            <a:cxnLst/>
            <a:rect l="l" t="t" r="r" b="b"/>
            <a:pathLst>
              <a:path w="1920239" h="75564">
                <a:moveTo>
                  <a:pt x="1920132" y="75437"/>
                </a:moveTo>
                <a:lnTo>
                  <a:pt x="0" y="75437"/>
                </a:lnTo>
                <a:lnTo>
                  <a:pt x="0" y="0"/>
                </a:lnTo>
                <a:lnTo>
                  <a:pt x="1920132" y="0"/>
                </a:lnTo>
                <a:lnTo>
                  <a:pt x="1920132" y="75437"/>
                </a:lnTo>
                <a:close/>
              </a:path>
            </a:pathLst>
          </a:custGeom>
          <a:solidFill>
            <a:srgbClr val="F5C4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88915" y="9299219"/>
            <a:ext cx="16917035" cy="14604"/>
          </a:xfrm>
          <a:custGeom>
            <a:avLst/>
            <a:gdLst/>
            <a:ahLst/>
            <a:cxnLst/>
            <a:rect l="l" t="t" r="r" b="b"/>
            <a:pathLst>
              <a:path w="16917035" h="14604">
                <a:moveTo>
                  <a:pt x="0" y="0"/>
                </a:moveTo>
                <a:lnTo>
                  <a:pt x="16916593" y="14171"/>
                </a:lnTo>
              </a:path>
            </a:pathLst>
          </a:custGeom>
          <a:ln w="9524">
            <a:solidFill>
              <a:srgbClr val="E2D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530">
              <a:lnSpc>
                <a:spcPts val="1760"/>
              </a:lnSpc>
            </a:pPr>
            <a:r>
              <a:rPr dirty="0"/>
              <a:t>Final</a:t>
            </a:r>
            <a:r>
              <a:rPr spc="-35" dirty="0"/>
              <a:t> </a:t>
            </a:r>
            <a:r>
              <a:rPr spc="-10" dirty="0"/>
              <a:t>review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3408" rIns="0" bIns="0" rtlCol="0">
            <a:spAutoFit/>
          </a:bodyPr>
          <a:lstStyle/>
          <a:p>
            <a:pPr marL="115570">
              <a:lnSpc>
                <a:spcPts val="1760"/>
              </a:lnSpc>
            </a:pPr>
            <a:r>
              <a:rPr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Artificial</a:t>
            </a:r>
            <a:r>
              <a:rPr spc="-45" dirty="0"/>
              <a:t> </a:t>
            </a:r>
            <a:r>
              <a:rPr dirty="0"/>
              <a:t>Intelligence</a:t>
            </a:r>
            <a:r>
              <a:rPr spc="-5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Machine</a:t>
            </a:r>
            <a:r>
              <a:rPr spc="-45" dirty="0"/>
              <a:t> </a:t>
            </a:r>
            <a:r>
              <a:rPr spc="-10" dirty="0"/>
              <a:t>Learning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9DBFCED-89A5-2B76-1849-142FA1FFE1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object 11">
            <a:extLst>
              <a:ext uri="{FF2B5EF4-FFF2-40B4-BE49-F238E27FC236}">
                <a16:creationId xmlns:a16="http://schemas.microsoft.com/office/drawing/2014/main" id="{A2218D2D-6DC3-2BE4-1D2D-35A1DB66492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60793" y="77829"/>
            <a:ext cx="3575612" cy="14323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/>
          <p:nvPr/>
        </p:nvSpPr>
        <p:spPr>
          <a:xfrm>
            <a:off x="209568" y="0"/>
            <a:ext cx="1234440" cy="1234440"/>
          </a:xfrm>
          <a:custGeom>
            <a:avLst/>
            <a:gdLst/>
            <a:ahLst/>
            <a:cxnLst/>
            <a:rect l="l" t="t" r="r" b="b"/>
            <a:pathLst>
              <a:path w="1234440" h="1234440">
                <a:moveTo>
                  <a:pt x="617220" y="1234440"/>
                </a:moveTo>
                <a:lnTo>
                  <a:pt x="568982" y="1232583"/>
                </a:lnTo>
                <a:lnTo>
                  <a:pt x="521760" y="1227104"/>
                </a:lnTo>
                <a:lnTo>
                  <a:pt x="475691" y="1218139"/>
                </a:lnTo>
                <a:lnTo>
                  <a:pt x="430912" y="1205827"/>
                </a:lnTo>
                <a:lnTo>
                  <a:pt x="387561" y="1190304"/>
                </a:lnTo>
                <a:lnTo>
                  <a:pt x="345774" y="1171708"/>
                </a:lnTo>
                <a:lnTo>
                  <a:pt x="305689" y="1150175"/>
                </a:lnTo>
                <a:lnTo>
                  <a:pt x="267442" y="1125843"/>
                </a:lnTo>
                <a:lnTo>
                  <a:pt x="231172" y="1098849"/>
                </a:lnTo>
                <a:lnTo>
                  <a:pt x="197015" y="1069330"/>
                </a:lnTo>
                <a:lnTo>
                  <a:pt x="165109" y="1037424"/>
                </a:lnTo>
                <a:lnTo>
                  <a:pt x="135590" y="1003267"/>
                </a:lnTo>
                <a:lnTo>
                  <a:pt x="108596" y="966997"/>
                </a:lnTo>
                <a:lnTo>
                  <a:pt x="84264" y="928751"/>
                </a:lnTo>
                <a:lnTo>
                  <a:pt x="62731" y="888665"/>
                </a:lnTo>
                <a:lnTo>
                  <a:pt x="44135" y="846878"/>
                </a:lnTo>
                <a:lnTo>
                  <a:pt x="28612" y="803527"/>
                </a:lnTo>
                <a:lnTo>
                  <a:pt x="16300" y="758748"/>
                </a:lnTo>
                <a:lnTo>
                  <a:pt x="7336" y="712679"/>
                </a:lnTo>
                <a:lnTo>
                  <a:pt x="1856" y="665457"/>
                </a:lnTo>
                <a:lnTo>
                  <a:pt x="0" y="617220"/>
                </a:lnTo>
                <a:lnTo>
                  <a:pt x="1856" y="568982"/>
                </a:lnTo>
                <a:lnTo>
                  <a:pt x="7336" y="521760"/>
                </a:lnTo>
                <a:lnTo>
                  <a:pt x="16300" y="475691"/>
                </a:lnTo>
                <a:lnTo>
                  <a:pt x="28612" y="430912"/>
                </a:lnTo>
                <a:lnTo>
                  <a:pt x="44135" y="387561"/>
                </a:lnTo>
                <a:lnTo>
                  <a:pt x="62731" y="345774"/>
                </a:lnTo>
                <a:lnTo>
                  <a:pt x="84264" y="305689"/>
                </a:lnTo>
                <a:lnTo>
                  <a:pt x="108596" y="267442"/>
                </a:lnTo>
                <a:lnTo>
                  <a:pt x="135590" y="231172"/>
                </a:lnTo>
                <a:lnTo>
                  <a:pt x="165109" y="197015"/>
                </a:lnTo>
                <a:lnTo>
                  <a:pt x="197015" y="165109"/>
                </a:lnTo>
                <a:lnTo>
                  <a:pt x="231172" y="135590"/>
                </a:lnTo>
                <a:lnTo>
                  <a:pt x="267442" y="108596"/>
                </a:lnTo>
                <a:lnTo>
                  <a:pt x="305689" y="84264"/>
                </a:lnTo>
                <a:lnTo>
                  <a:pt x="345774" y="62731"/>
                </a:lnTo>
                <a:lnTo>
                  <a:pt x="387561" y="44135"/>
                </a:lnTo>
                <a:lnTo>
                  <a:pt x="430912" y="28612"/>
                </a:lnTo>
                <a:lnTo>
                  <a:pt x="475691" y="16300"/>
                </a:lnTo>
                <a:lnTo>
                  <a:pt x="521760" y="7336"/>
                </a:lnTo>
                <a:lnTo>
                  <a:pt x="568982" y="1856"/>
                </a:lnTo>
                <a:lnTo>
                  <a:pt x="617220" y="0"/>
                </a:lnTo>
                <a:lnTo>
                  <a:pt x="665457" y="1856"/>
                </a:lnTo>
                <a:lnTo>
                  <a:pt x="712679" y="7336"/>
                </a:lnTo>
                <a:lnTo>
                  <a:pt x="758748" y="16300"/>
                </a:lnTo>
                <a:lnTo>
                  <a:pt x="803527" y="28612"/>
                </a:lnTo>
                <a:lnTo>
                  <a:pt x="846878" y="44135"/>
                </a:lnTo>
                <a:lnTo>
                  <a:pt x="888665" y="62731"/>
                </a:lnTo>
                <a:lnTo>
                  <a:pt x="928751" y="84264"/>
                </a:lnTo>
                <a:lnTo>
                  <a:pt x="966997" y="108596"/>
                </a:lnTo>
                <a:lnTo>
                  <a:pt x="1003267" y="135590"/>
                </a:lnTo>
                <a:lnTo>
                  <a:pt x="1037424" y="165109"/>
                </a:lnTo>
                <a:lnTo>
                  <a:pt x="1069330" y="197015"/>
                </a:lnTo>
                <a:lnTo>
                  <a:pt x="1098849" y="231172"/>
                </a:lnTo>
                <a:lnTo>
                  <a:pt x="1125843" y="267442"/>
                </a:lnTo>
                <a:lnTo>
                  <a:pt x="1150175" y="305689"/>
                </a:lnTo>
                <a:lnTo>
                  <a:pt x="1171708" y="345774"/>
                </a:lnTo>
                <a:lnTo>
                  <a:pt x="1190304" y="387561"/>
                </a:lnTo>
                <a:lnTo>
                  <a:pt x="1205827" y="430912"/>
                </a:lnTo>
                <a:lnTo>
                  <a:pt x="1218139" y="475691"/>
                </a:lnTo>
                <a:lnTo>
                  <a:pt x="1227104" y="521760"/>
                </a:lnTo>
                <a:lnTo>
                  <a:pt x="1232583" y="568982"/>
                </a:lnTo>
                <a:lnTo>
                  <a:pt x="1234440" y="617220"/>
                </a:lnTo>
                <a:lnTo>
                  <a:pt x="1232583" y="665457"/>
                </a:lnTo>
                <a:lnTo>
                  <a:pt x="1227104" y="712679"/>
                </a:lnTo>
                <a:lnTo>
                  <a:pt x="1218139" y="758748"/>
                </a:lnTo>
                <a:lnTo>
                  <a:pt x="1205827" y="803527"/>
                </a:lnTo>
                <a:lnTo>
                  <a:pt x="1190304" y="846878"/>
                </a:lnTo>
                <a:lnTo>
                  <a:pt x="1171708" y="888665"/>
                </a:lnTo>
                <a:lnTo>
                  <a:pt x="1150175" y="928751"/>
                </a:lnTo>
                <a:lnTo>
                  <a:pt x="1125843" y="966997"/>
                </a:lnTo>
                <a:lnTo>
                  <a:pt x="1098849" y="1003267"/>
                </a:lnTo>
                <a:lnTo>
                  <a:pt x="1069330" y="1037424"/>
                </a:lnTo>
                <a:lnTo>
                  <a:pt x="1037424" y="1069330"/>
                </a:lnTo>
                <a:lnTo>
                  <a:pt x="1003267" y="1098849"/>
                </a:lnTo>
                <a:lnTo>
                  <a:pt x="966997" y="1125843"/>
                </a:lnTo>
                <a:lnTo>
                  <a:pt x="928751" y="1150175"/>
                </a:lnTo>
                <a:lnTo>
                  <a:pt x="888665" y="1171708"/>
                </a:lnTo>
                <a:lnTo>
                  <a:pt x="846878" y="1190304"/>
                </a:lnTo>
                <a:lnTo>
                  <a:pt x="803527" y="1205827"/>
                </a:lnTo>
                <a:lnTo>
                  <a:pt x="758748" y="1218139"/>
                </a:lnTo>
                <a:lnTo>
                  <a:pt x="712679" y="1227104"/>
                </a:lnTo>
                <a:lnTo>
                  <a:pt x="665457" y="1232583"/>
                </a:lnTo>
                <a:lnTo>
                  <a:pt x="617220" y="1234440"/>
                </a:lnTo>
                <a:close/>
              </a:path>
            </a:pathLst>
          </a:custGeom>
          <a:solidFill>
            <a:srgbClr val="F5C4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722767" y="263544"/>
            <a:ext cx="32258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50" dirty="0">
                <a:solidFill>
                  <a:srgbClr val="000000"/>
                </a:solidFill>
              </a:rPr>
              <a:t>8</a:t>
            </a:r>
            <a:endParaRPr sz="4200"/>
          </a:p>
        </p:txBody>
      </p:sp>
      <p:sp>
        <p:nvSpPr>
          <p:cNvPr id="2" name="object 2"/>
          <p:cNvSpPr/>
          <p:nvPr/>
        </p:nvSpPr>
        <p:spPr>
          <a:xfrm>
            <a:off x="1566509" y="1028700"/>
            <a:ext cx="1920239" cy="75565"/>
          </a:xfrm>
          <a:custGeom>
            <a:avLst/>
            <a:gdLst/>
            <a:ahLst/>
            <a:cxnLst/>
            <a:rect l="l" t="t" r="r" b="b"/>
            <a:pathLst>
              <a:path w="1920239" h="75565">
                <a:moveTo>
                  <a:pt x="1920132" y="75437"/>
                </a:moveTo>
                <a:lnTo>
                  <a:pt x="0" y="75437"/>
                </a:lnTo>
                <a:lnTo>
                  <a:pt x="0" y="0"/>
                </a:lnTo>
                <a:lnTo>
                  <a:pt x="1920132" y="0"/>
                </a:lnTo>
                <a:lnTo>
                  <a:pt x="1920132" y="75437"/>
                </a:lnTo>
                <a:close/>
              </a:path>
            </a:pathLst>
          </a:custGeom>
          <a:solidFill>
            <a:srgbClr val="F5C4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558667" y="290033"/>
            <a:ext cx="130295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dirty="0">
                <a:solidFill>
                  <a:srgbClr val="5B2D8E"/>
                </a:solidFill>
                <a:latin typeface="Arial"/>
                <a:cs typeface="Arial"/>
              </a:rPr>
              <a:t>AGENT WORKFLOW AND </a:t>
            </a:r>
            <a:r>
              <a:rPr sz="4800" b="1" spc="-10" dirty="0">
                <a:solidFill>
                  <a:srgbClr val="5B2D8E"/>
                </a:solidFill>
                <a:latin typeface="Arial"/>
                <a:cs typeface="Arial"/>
              </a:rPr>
              <a:t>ORCHESTRATION</a:t>
            </a:r>
            <a:endParaRPr sz="48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39543" y="312529"/>
            <a:ext cx="3575612" cy="143234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21031" y="9798935"/>
            <a:ext cx="104203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 MT"/>
                <a:cs typeface="Arial MT"/>
              </a:rPr>
              <a:t>Final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review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774454" y="9804207"/>
            <a:ext cx="49072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 MT"/>
                <a:cs typeface="Arial MT"/>
              </a:rPr>
              <a:t>Department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of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Artificial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Intelligence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and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Machine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Learning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D4303B7-4320-018B-7047-03B978F70C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8"/>
            <a:ext cx="18288000" cy="10285764"/>
          </a:xfrm>
          <a:prstGeom prst="rect">
            <a:avLst/>
          </a:prstGeom>
        </p:spPr>
      </p:pic>
      <p:pic>
        <p:nvPicPr>
          <p:cNvPr id="19" name="object 57">
            <a:extLst>
              <a:ext uri="{FF2B5EF4-FFF2-40B4-BE49-F238E27FC236}">
                <a16:creationId xmlns:a16="http://schemas.microsoft.com/office/drawing/2014/main" id="{FA1AD3FB-6459-608B-D40F-54A5FA989F1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83185" y="220437"/>
            <a:ext cx="3575612" cy="11588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/>
          <p:nvPr/>
        </p:nvSpPr>
        <p:spPr>
          <a:xfrm>
            <a:off x="209568" y="0"/>
            <a:ext cx="1234440" cy="1234440"/>
          </a:xfrm>
          <a:custGeom>
            <a:avLst/>
            <a:gdLst/>
            <a:ahLst/>
            <a:cxnLst/>
            <a:rect l="l" t="t" r="r" b="b"/>
            <a:pathLst>
              <a:path w="1234440" h="1234440">
                <a:moveTo>
                  <a:pt x="617220" y="1234440"/>
                </a:moveTo>
                <a:lnTo>
                  <a:pt x="568982" y="1232583"/>
                </a:lnTo>
                <a:lnTo>
                  <a:pt x="521760" y="1227104"/>
                </a:lnTo>
                <a:lnTo>
                  <a:pt x="475691" y="1218139"/>
                </a:lnTo>
                <a:lnTo>
                  <a:pt x="430912" y="1205827"/>
                </a:lnTo>
                <a:lnTo>
                  <a:pt x="387561" y="1190304"/>
                </a:lnTo>
                <a:lnTo>
                  <a:pt x="345774" y="1171708"/>
                </a:lnTo>
                <a:lnTo>
                  <a:pt x="305689" y="1150175"/>
                </a:lnTo>
                <a:lnTo>
                  <a:pt x="267442" y="1125843"/>
                </a:lnTo>
                <a:lnTo>
                  <a:pt x="231172" y="1098849"/>
                </a:lnTo>
                <a:lnTo>
                  <a:pt x="197015" y="1069330"/>
                </a:lnTo>
                <a:lnTo>
                  <a:pt x="165109" y="1037424"/>
                </a:lnTo>
                <a:lnTo>
                  <a:pt x="135590" y="1003267"/>
                </a:lnTo>
                <a:lnTo>
                  <a:pt x="108596" y="966997"/>
                </a:lnTo>
                <a:lnTo>
                  <a:pt x="84264" y="928751"/>
                </a:lnTo>
                <a:lnTo>
                  <a:pt x="62731" y="888665"/>
                </a:lnTo>
                <a:lnTo>
                  <a:pt x="44135" y="846878"/>
                </a:lnTo>
                <a:lnTo>
                  <a:pt x="28612" y="803527"/>
                </a:lnTo>
                <a:lnTo>
                  <a:pt x="16300" y="758748"/>
                </a:lnTo>
                <a:lnTo>
                  <a:pt x="7336" y="712679"/>
                </a:lnTo>
                <a:lnTo>
                  <a:pt x="1856" y="665457"/>
                </a:lnTo>
                <a:lnTo>
                  <a:pt x="0" y="617220"/>
                </a:lnTo>
                <a:lnTo>
                  <a:pt x="1856" y="568982"/>
                </a:lnTo>
                <a:lnTo>
                  <a:pt x="7336" y="521760"/>
                </a:lnTo>
                <a:lnTo>
                  <a:pt x="16300" y="475691"/>
                </a:lnTo>
                <a:lnTo>
                  <a:pt x="28612" y="430912"/>
                </a:lnTo>
                <a:lnTo>
                  <a:pt x="44135" y="387561"/>
                </a:lnTo>
                <a:lnTo>
                  <a:pt x="62731" y="345774"/>
                </a:lnTo>
                <a:lnTo>
                  <a:pt x="84264" y="305689"/>
                </a:lnTo>
                <a:lnTo>
                  <a:pt x="108596" y="267442"/>
                </a:lnTo>
                <a:lnTo>
                  <a:pt x="135590" y="231172"/>
                </a:lnTo>
                <a:lnTo>
                  <a:pt x="165109" y="197015"/>
                </a:lnTo>
                <a:lnTo>
                  <a:pt x="197015" y="165109"/>
                </a:lnTo>
                <a:lnTo>
                  <a:pt x="231172" y="135590"/>
                </a:lnTo>
                <a:lnTo>
                  <a:pt x="267442" y="108596"/>
                </a:lnTo>
                <a:lnTo>
                  <a:pt x="305689" y="84264"/>
                </a:lnTo>
                <a:lnTo>
                  <a:pt x="345774" y="62731"/>
                </a:lnTo>
                <a:lnTo>
                  <a:pt x="387561" y="44135"/>
                </a:lnTo>
                <a:lnTo>
                  <a:pt x="430912" y="28612"/>
                </a:lnTo>
                <a:lnTo>
                  <a:pt x="475691" y="16300"/>
                </a:lnTo>
                <a:lnTo>
                  <a:pt x="521760" y="7336"/>
                </a:lnTo>
                <a:lnTo>
                  <a:pt x="568982" y="1856"/>
                </a:lnTo>
                <a:lnTo>
                  <a:pt x="617220" y="0"/>
                </a:lnTo>
                <a:lnTo>
                  <a:pt x="665457" y="1856"/>
                </a:lnTo>
                <a:lnTo>
                  <a:pt x="712679" y="7336"/>
                </a:lnTo>
                <a:lnTo>
                  <a:pt x="758748" y="16300"/>
                </a:lnTo>
                <a:lnTo>
                  <a:pt x="803527" y="28612"/>
                </a:lnTo>
                <a:lnTo>
                  <a:pt x="846878" y="44135"/>
                </a:lnTo>
                <a:lnTo>
                  <a:pt x="888665" y="62731"/>
                </a:lnTo>
                <a:lnTo>
                  <a:pt x="928751" y="84264"/>
                </a:lnTo>
                <a:lnTo>
                  <a:pt x="966997" y="108596"/>
                </a:lnTo>
                <a:lnTo>
                  <a:pt x="1003267" y="135590"/>
                </a:lnTo>
                <a:lnTo>
                  <a:pt x="1037424" y="165109"/>
                </a:lnTo>
                <a:lnTo>
                  <a:pt x="1069330" y="197015"/>
                </a:lnTo>
                <a:lnTo>
                  <a:pt x="1098849" y="231172"/>
                </a:lnTo>
                <a:lnTo>
                  <a:pt x="1125843" y="267442"/>
                </a:lnTo>
                <a:lnTo>
                  <a:pt x="1150175" y="305689"/>
                </a:lnTo>
                <a:lnTo>
                  <a:pt x="1171708" y="345774"/>
                </a:lnTo>
                <a:lnTo>
                  <a:pt x="1190304" y="387561"/>
                </a:lnTo>
                <a:lnTo>
                  <a:pt x="1205827" y="430912"/>
                </a:lnTo>
                <a:lnTo>
                  <a:pt x="1218139" y="475691"/>
                </a:lnTo>
                <a:lnTo>
                  <a:pt x="1227104" y="521760"/>
                </a:lnTo>
                <a:lnTo>
                  <a:pt x="1232583" y="568982"/>
                </a:lnTo>
                <a:lnTo>
                  <a:pt x="1234440" y="617220"/>
                </a:lnTo>
                <a:lnTo>
                  <a:pt x="1232583" y="665457"/>
                </a:lnTo>
                <a:lnTo>
                  <a:pt x="1227104" y="712679"/>
                </a:lnTo>
                <a:lnTo>
                  <a:pt x="1218139" y="758748"/>
                </a:lnTo>
                <a:lnTo>
                  <a:pt x="1205827" y="803527"/>
                </a:lnTo>
                <a:lnTo>
                  <a:pt x="1190304" y="846878"/>
                </a:lnTo>
                <a:lnTo>
                  <a:pt x="1171708" y="888665"/>
                </a:lnTo>
                <a:lnTo>
                  <a:pt x="1150175" y="928751"/>
                </a:lnTo>
                <a:lnTo>
                  <a:pt x="1125843" y="966997"/>
                </a:lnTo>
                <a:lnTo>
                  <a:pt x="1098849" y="1003267"/>
                </a:lnTo>
                <a:lnTo>
                  <a:pt x="1069330" y="1037424"/>
                </a:lnTo>
                <a:lnTo>
                  <a:pt x="1037424" y="1069330"/>
                </a:lnTo>
                <a:lnTo>
                  <a:pt x="1003267" y="1098849"/>
                </a:lnTo>
                <a:lnTo>
                  <a:pt x="966997" y="1125843"/>
                </a:lnTo>
                <a:lnTo>
                  <a:pt x="928751" y="1150175"/>
                </a:lnTo>
                <a:lnTo>
                  <a:pt x="888665" y="1171708"/>
                </a:lnTo>
                <a:lnTo>
                  <a:pt x="846878" y="1190304"/>
                </a:lnTo>
                <a:lnTo>
                  <a:pt x="803527" y="1205827"/>
                </a:lnTo>
                <a:lnTo>
                  <a:pt x="758748" y="1218139"/>
                </a:lnTo>
                <a:lnTo>
                  <a:pt x="712679" y="1227104"/>
                </a:lnTo>
                <a:lnTo>
                  <a:pt x="665457" y="1232583"/>
                </a:lnTo>
                <a:lnTo>
                  <a:pt x="617220" y="1234440"/>
                </a:lnTo>
                <a:close/>
              </a:path>
            </a:pathLst>
          </a:custGeom>
          <a:solidFill>
            <a:srgbClr val="F5C4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722767" y="263544"/>
            <a:ext cx="32258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50" dirty="0">
                <a:solidFill>
                  <a:srgbClr val="000000"/>
                </a:solidFill>
              </a:rPr>
              <a:t>6</a:t>
            </a:r>
            <a:endParaRPr sz="4200"/>
          </a:p>
        </p:txBody>
      </p:sp>
      <p:sp>
        <p:nvSpPr>
          <p:cNvPr id="2" name="object 2"/>
          <p:cNvSpPr/>
          <p:nvPr/>
        </p:nvSpPr>
        <p:spPr>
          <a:xfrm>
            <a:off x="1566509" y="1028700"/>
            <a:ext cx="1920239" cy="75565"/>
          </a:xfrm>
          <a:custGeom>
            <a:avLst/>
            <a:gdLst/>
            <a:ahLst/>
            <a:cxnLst/>
            <a:rect l="l" t="t" r="r" b="b"/>
            <a:pathLst>
              <a:path w="1920239" h="75565">
                <a:moveTo>
                  <a:pt x="1920132" y="75437"/>
                </a:moveTo>
                <a:lnTo>
                  <a:pt x="0" y="75437"/>
                </a:lnTo>
                <a:lnTo>
                  <a:pt x="0" y="0"/>
                </a:lnTo>
                <a:lnTo>
                  <a:pt x="1920132" y="0"/>
                </a:lnTo>
                <a:lnTo>
                  <a:pt x="1920132" y="75437"/>
                </a:lnTo>
                <a:close/>
              </a:path>
            </a:pathLst>
          </a:custGeom>
          <a:solidFill>
            <a:srgbClr val="F5C4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558667" y="290033"/>
            <a:ext cx="754443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dirty="0">
                <a:solidFill>
                  <a:srgbClr val="5B2D8E"/>
                </a:solidFill>
                <a:latin typeface="Arial"/>
                <a:cs typeface="Arial"/>
              </a:rPr>
              <a:t>AGENTS </a:t>
            </a:r>
            <a:r>
              <a:rPr sz="4800" b="1" spc="-10" dirty="0">
                <a:solidFill>
                  <a:srgbClr val="5B2D8E"/>
                </a:solidFill>
                <a:latin typeface="Arial"/>
                <a:cs typeface="Arial"/>
              </a:rPr>
              <a:t>ARCHITECTURE</a:t>
            </a:r>
            <a:endParaRPr sz="48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41673" y="165007"/>
            <a:ext cx="3575612" cy="143234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21031" y="9798935"/>
            <a:ext cx="104203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 MT"/>
                <a:cs typeface="Arial MT"/>
              </a:rPr>
              <a:t>Final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review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393588" y="9939020"/>
            <a:ext cx="49072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 MT"/>
                <a:cs typeface="Arial MT"/>
              </a:rPr>
              <a:t>Department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of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Artificial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Intelligence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and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Machine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Learning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D5926-3B13-E554-53AD-B59D1A9F9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348" y="1597347"/>
            <a:ext cx="15642452" cy="75853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D8500E1-DA18-E920-0A1A-8881B58663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8" y="-1036"/>
            <a:ext cx="18288000" cy="10284178"/>
          </a:xfrm>
          <a:prstGeom prst="rect">
            <a:avLst/>
          </a:prstGeom>
        </p:spPr>
      </p:pic>
      <p:pic>
        <p:nvPicPr>
          <p:cNvPr id="15" name="object 52">
            <a:extLst>
              <a:ext uri="{FF2B5EF4-FFF2-40B4-BE49-F238E27FC236}">
                <a16:creationId xmlns:a16="http://schemas.microsoft.com/office/drawing/2014/main" id="{E9F77B27-451D-E37E-5067-EFF3C37B1D8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27030" y="49578"/>
            <a:ext cx="3651401" cy="14323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77561" y="749519"/>
            <a:ext cx="94437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dirty="0">
                <a:solidFill>
                  <a:srgbClr val="5B2D8E"/>
                </a:solidFill>
                <a:latin typeface="Arial"/>
                <a:cs typeface="Arial"/>
              </a:rPr>
              <a:t>Proposed</a:t>
            </a:r>
            <a:r>
              <a:rPr sz="4800" b="1" spc="-175" dirty="0">
                <a:solidFill>
                  <a:srgbClr val="5B2D8E"/>
                </a:solidFill>
                <a:latin typeface="Arial"/>
                <a:cs typeface="Arial"/>
              </a:rPr>
              <a:t> </a:t>
            </a:r>
            <a:r>
              <a:rPr sz="4800" b="1" dirty="0">
                <a:solidFill>
                  <a:srgbClr val="5B2D8E"/>
                </a:solidFill>
                <a:latin typeface="Arial"/>
                <a:cs typeface="Arial"/>
              </a:rPr>
              <a:t>System:</a:t>
            </a:r>
            <a:r>
              <a:rPr sz="4800" b="1" spc="-170" dirty="0">
                <a:solidFill>
                  <a:srgbClr val="5B2D8E"/>
                </a:solidFill>
                <a:latin typeface="Arial"/>
                <a:cs typeface="Arial"/>
              </a:rPr>
              <a:t> </a:t>
            </a:r>
            <a:r>
              <a:rPr sz="4800" b="1" dirty="0">
                <a:solidFill>
                  <a:srgbClr val="5B2D8E"/>
                </a:solidFill>
                <a:latin typeface="Arial"/>
                <a:cs typeface="Arial"/>
              </a:rPr>
              <a:t>Data</a:t>
            </a:r>
            <a:r>
              <a:rPr sz="4800" b="1" spc="-170" dirty="0">
                <a:solidFill>
                  <a:srgbClr val="5B2D8E"/>
                </a:solidFill>
                <a:latin typeface="Arial"/>
                <a:cs typeface="Arial"/>
              </a:rPr>
              <a:t> </a:t>
            </a:r>
            <a:r>
              <a:rPr sz="4800" b="1" spc="-10" dirty="0">
                <a:solidFill>
                  <a:srgbClr val="5B2D8E"/>
                </a:solidFill>
                <a:latin typeface="Arial"/>
                <a:cs typeface="Arial"/>
              </a:rPr>
              <a:t>Sources</a:t>
            </a:r>
            <a:endParaRPr sz="4800">
              <a:latin typeface="Arial"/>
              <a:cs typeface="Arial"/>
            </a:endParaRPr>
          </a:p>
        </p:txBody>
      </p:sp>
      <p:pic>
        <p:nvPicPr>
          <p:cNvPr id="35" name="object 3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02016" y="258156"/>
            <a:ext cx="3575612" cy="143234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964655" y="1652777"/>
            <a:ext cx="1920239" cy="75565"/>
          </a:xfrm>
          <a:custGeom>
            <a:avLst/>
            <a:gdLst/>
            <a:ahLst/>
            <a:cxnLst/>
            <a:rect l="l" t="t" r="r" b="b"/>
            <a:pathLst>
              <a:path w="1920239" h="75564">
                <a:moveTo>
                  <a:pt x="1920132" y="75437"/>
                </a:moveTo>
                <a:lnTo>
                  <a:pt x="0" y="75437"/>
                </a:lnTo>
                <a:lnTo>
                  <a:pt x="0" y="0"/>
                </a:lnTo>
                <a:lnTo>
                  <a:pt x="1920132" y="0"/>
                </a:lnTo>
                <a:lnTo>
                  <a:pt x="1920132" y="75437"/>
                </a:lnTo>
                <a:close/>
              </a:path>
            </a:pathLst>
          </a:custGeom>
          <a:solidFill>
            <a:srgbClr val="F5C4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1060683" y="3552793"/>
            <a:ext cx="2057400" cy="377154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endParaRPr lang="en-US" sz="2400" b="1" dirty="0">
              <a:solidFill>
                <a:srgbClr val="5B2D8E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8915" y="9299219"/>
            <a:ext cx="16917035" cy="14604"/>
          </a:xfrm>
          <a:custGeom>
            <a:avLst/>
            <a:gdLst/>
            <a:ahLst/>
            <a:cxnLst/>
            <a:rect l="l" t="t" r="r" b="b"/>
            <a:pathLst>
              <a:path w="16917035" h="14604">
                <a:moveTo>
                  <a:pt x="0" y="0"/>
                </a:moveTo>
                <a:lnTo>
                  <a:pt x="16916593" y="14171"/>
                </a:lnTo>
              </a:path>
            </a:pathLst>
          </a:custGeom>
          <a:ln w="9524">
            <a:solidFill>
              <a:srgbClr val="E2D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530">
              <a:lnSpc>
                <a:spcPts val="1760"/>
              </a:lnSpc>
            </a:pPr>
            <a:r>
              <a:rPr dirty="0"/>
              <a:t>Final</a:t>
            </a:r>
            <a:r>
              <a:rPr spc="-35" dirty="0"/>
              <a:t> </a:t>
            </a:r>
            <a:r>
              <a:rPr spc="-10" dirty="0"/>
              <a:t>review</a:t>
            </a:r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3408" rIns="0" bIns="0" rtlCol="0">
            <a:spAutoFit/>
          </a:bodyPr>
          <a:lstStyle/>
          <a:p>
            <a:pPr marL="115570">
              <a:lnSpc>
                <a:spcPts val="1760"/>
              </a:lnSpc>
            </a:pPr>
            <a:r>
              <a:rPr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Artificial</a:t>
            </a:r>
            <a:r>
              <a:rPr spc="-45" dirty="0"/>
              <a:t> </a:t>
            </a:r>
            <a:r>
              <a:rPr dirty="0"/>
              <a:t>Intelligence</a:t>
            </a:r>
            <a:r>
              <a:rPr spc="-5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Machine</a:t>
            </a:r>
            <a:r>
              <a:rPr spc="-45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39" name="Title 38">
            <a:extLst>
              <a:ext uri="{FF2B5EF4-FFF2-40B4-BE49-F238E27FC236}">
                <a16:creationId xmlns:a16="http://schemas.microsoft.com/office/drawing/2014/main" id="{E3870E1B-78B5-C0B5-A3DA-F88AB4571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0202" y="798553"/>
            <a:ext cx="10764046" cy="707886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767BCB1-A26B-82EA-BE28-38CF15E48722}"/>
              </a:ext>
            </a:extLst>
          </p:cNvPr>
          <p:cNvSpPr txBox="1"/>
          <p:nvPr/>
        </p:nvSpPr>
        <p:spPr>
          <a:xfrm>
            <a:off x="762000" y="825593"/>
            <a:ext cx="6024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7</a:t>
            </a:r>
            <a:endParaRPr lang="en-IN" sz="4000" b="1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C0756B6E-61C5-3B75-F09D-727BCDA173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292" y="1912098"/>
            <a:ext cx="15925800" cy="75441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3073" rIns="0" bIns="0" rtlCol="0">
            <a:spAutoFit/>
          </a:bodyPr>
          <a:lstStyle/>
          <a:p>
            <a:pPr marL="139700">
              <a:lnSpc>
                <a:spcPct val="100000"/>
              </a:lnSpc>
              <a:spcBef>
                <a:spcPts val="100"/>
              </a:spcBef>
            </a:pPr>
            <a:r>
              <a:rPr dirty="0"/>
              <a:t>TOOLS</a:t>
            </a:r>
            <a:r>
              <a:rPr spc="-145" dirty="0"/>
              <a:t> </a:t>
            </a:r>
            <a:r>
              <a:rPr dirty="0"/>
              <a:t>AND</a:t>
            </a:r>
            <a:r>
              <a:rPr spc="-145" dirty="0"/>
              <a:t> </a:t>
            </a:r>
            <a:r>
              <a:rPr spc="-10" dirty="0"/>
              <a:t>TECHNOLOGIES</a:t>
            </a:r>
            <a:r>
              <a:rPr spc="-140" dirty="0"/>
              <a:t> </a:t>
            </a:r>
            <a:r>
              <a:rPr spc="-20" dirty="0"/>
              <a:t>USED</a:t>
            </a:r>
          </a:p>
        </p:txBody>
      </p:sp>
      <p:sp>
        <p:nvSpPr>
          <p:cNvPr id="3" name="object 3"/>
          <p:cNvSpPr/>
          <p:nvPr/>
        </p:nvSpPr>
        <p:spPr>
          <a:xfrm>
            <a:off x="1964655" y="1652777"/>
            <a:ext cx="1920239" cy="75565"/>
          </a:xfrm>
          <a:custGeom>
            <a:avLst/>
            <a:gdLst/>
            <a:ahLst/>
            <a:cxnLst/>
            <a:rect l="l" t="t" r="r" b="b"/>
            <a:pathLst>
              <a:path w="1920239" h="75564">
                <a:moveTo>
                  <a:pt x="1920132" y="75437"/>
                </a:moveTo>
                <a:lnTo>
                  <a:pt x="0" y="75437"/>
                </a:lnTo>
                <a:lnTo>
                  <a:pt x="0" y="0"/>
                </a:lnTo>
                <a:lnTo>
                  <a:pt x="1920132" y="0"/>
                </a:lnTo>
                <a:lnTo>
                  <a:pt x="1920132" y="75437"/>
                </a:lnTo>
                <a:close/>
              </a:path>
            </a:pathLst>
          </a:custGeom>
          <a:solidFill>
            <a:srgbClr val="F5C4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8915" y="9299219"/>
            <a:ext cx="16917035" cy="14604"/>
          </a:xfrm>
          <a:custGeom>
            <a:avLst/>
            <a:gdLst/>
            <a:ahLst/>
            <a:cxnLst/>
            <a:rect l="l" t="t" r="r" b="b"/>
            <a:pathLst>
              <a:path w="16917035" h="14604">
                <a:moveTo>
                  <a:pt x="0" y="0"/>
                </a:moveTo>
                <a:lnTo>
                  <a:pt x="16916593" y="14171"/>
                </a:lnTo>
              </a:path>
            </a:pathLst>
          </a:custGeom>
          <a:ln w="9524">
            <a:solidFill>
              <a:srgbClr val="E2D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530">
              <a:lnSpc>
                <a:spcPts val="1760"/>
              </a:lnSpc>
            </a:pPr>
            <a:r>
              <a:rPr dirty="0"/>
              <a:t>Final</a:t>
            </a:r>
            <a:r>
              <a:rPr spc="-35" dirty="0"/>
              <a:t> </a:t>
            </a:r>
            <a:r>
              <a:rPr spc="-10" dirty="0"/>
              <a:t>review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3408" rIns="0" bIns="0" rtlCol="0">
            <a:spAutoFit/>
          </a:bodyPr>
          <a:lstStyle/>
          <a:p>
            <a:pPr marL="115570">
              <a:lnSpc>
                <a:spcPts val="1760"/>
              </a:lnSpc>
            </a:pPr>
            <a:r>
              <a:rPr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Artificial</a:t>
            </a:r>
            <a:r>
              <a:rPr spc="-45" dirty="0"/>
              <a:t> </a:t>
            </a:r>
            <a:r>
              <a:rPr dirty="0"/>
              <a:t>Intelligence</a:t>
            </a:r>
            <a:r>
              <a:rPr spc="-5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Machine</a:t>
            </a:r>
            <a:r>
              <a:rPr spc="-45" dirty="0"/>
              <a:t> </a:t>
            </a:r>
            <a:r>
              <a:rPr spc="-10" dirty="0"/>
              <a:t>Learning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7B06743-2B60-4BF7-9F98-053DDD604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654" y="1652777"/>
            <a:ext cx="15027945" cy="75990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8B325-B9EF-1328-AE3C-D0D48A3D6E38}"/>
              </a:ext>
            </a:extLst>
          </p:cNvPr>
          <p:cNvSpPr txBox="1"/>
          <p:nvPr/>
        </p:nvSpPr>
        <p:spPr>
          <a:xfrm>
            <a:off x="762000" y="723900"/>
            <a:ext cx="12026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8</a:t>
            </a:r>
            <a:endParaRPr lang="en-IN" sz="40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dirty="0"/>
              <a:t>Performance</a:t>
            </a:r>
            <a:r>
              <a:rPr sz="4300" spc="-60" dirty="0"/>
              <a:t> </a:t>
            </a:r>
            <a:r>
              <a:rPr sz="4300" dirty="0"/>
              <a:t>&amp;</a:t>
            </a:r>
            <a:r>
              <a:rPr sz="4300" spc="-60" dirty="0"/>
              <a:t> </a:t>
            </a:r>
            <a:r>
              <a:rPr sz="4300" dirty="0"/>
              <a:t>Success</a:t>
            </a:r>
            <a:r>
              <a:rPr sz="4300" spc="-60" dirty="0"/>
              <a:t> </a:t>
            </a:r>
            <a:r>
              <a:rPr sz="4300" spc="-10" dirty="0"/>
              <a:t>Metrics</a:t>
            </a:r>
            <a:endParaRPr sz="4300"/>
          </a:p>
        </p:txBody>
      </p:sp>
      <p:sp>
        <p:nvSpPr>
          <p:cNvPr id="7" name="object 7"/>
          <p:cNvSpPr/>
          <p:nvPr/>
        </p:nvSpPr>
        <p:spPr>
          <a:xfrm>
            <a:off x="1804734" y="1111000"/>
            <a:ext cx="1920875" cy="47625"/>
          </a:xfrm>
          <a:custGeom>
            <a:avLst/>
            <a:gdLst/>
            <a:ahLst/>
            <a:cxnLst/>
            <a:rect l="l" t="t" r="r" b="b"/>
            <a:pathLst>
              <a:path w="1920875" h="47625">
                <a:moveTo>
                  <a:pt x="1920254" y="47624"/>
                </a:moveTo>
                <a:lnTo>
                  <a:pt x="0" y="47624"/>
                </a:lnTo>
                <a:lnTo>
                  <a:pt x="0" y="0"/>
                </a:lnTo>
                <a:lnTo>
                  <a:pt x="1920254" y="0"/>
                </a:lnTo>
                <a:lnTo>
                  <a:pt x="1920254" y="47624"/>
                </a:lnTo>
                <a:close/>
              </a:path>
            </a:pathLst>
          </a:custGeom>
          <a:solidFill>
            <a:srgbClr val="F5C4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37570" y="276734"/>
            <a:ext cx="3575612" cy="143234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61962" y="9880865"/>
            <a:ext cx="1042035" cy="238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60"/>
              </a:lnSpc>
            </a:pPr>
            <a:r>
              <a:rPr sz="1500" dirty="0">
                <a:latin typeface="Arial MT"/>
                <a:cs typeface="Arial MT"/>
              </a:rPr>
              <a:t>Final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review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393588" y="9957065"/>
            <a:ext cx="4907280" cy="238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60"/>
              </a:lnSpc>
            </a:pPr>
            <a:r>
              <a:rPr sz="1500" dirty="0">
                <a:latin typeface="Arial MT"/>
                <a:cs typeface="Arial MT"/>
              </a:rPr>
              <a:t>Department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of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Artificial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Intelligence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and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Machine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Learning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5685A34-8BCE-D461-4606-3F1156780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1709074"/>
            <a:ext cx="15468599" cy="78540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1610">
              <a:lnSpc>
                <a:spcPct val="100000"/>
              </a:lnSpc>
              <a:spcBef>
                <a:spcPts val="100"/>
              </a:spcBef>
            </a:pPr>
            <a:r>
              <a:rPr u="sng" dirty="0">
                <a:uFill>
                  <a:solidFill>
                    <a:srgbClr val="F5C417"/>
                  </a:solidFill>
                </a:uFill>
              </a:rPr>
              <a:t>Scalab</a:t>
            </a:r>
            <a:r>
              <a:rPr dirty="0"/>
              <a:t>ility</a:t>
            </a:r>
            <a:r>
              <a:rPr spc="-105" dirty="0"/>
              <a:t> </a:t>
            </a:r>
            <a:r>
              <a:rPr dirty="0"/>
              <a:t>&amp;</a:t>
            </a:r>
            <a:r>
              <a:rPr spc="-105" dirty="0"/>
              <a:t> </a:t>
            </a:r>
            <a:r>
              <a:rPr spc="-30" dirty="0"/>
              <a:t>Real-</a:t>
            </a:r>
            <a:r>
              <a:rPr spc="-10" dirty="0"/>
              <a:t>World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60684" y="86096"/>
            <a:ext cx="3575612" cy="143234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701570" y="2014123"/>
            <a:ext cx="5815965" cy="553356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4"/>
              </a:spcBef>
            </a:pPr>
            <a:r>
              <a:rPr sz="2450" spc="105" dirty="0">
                <a:latin typeface="Arial MT"/>
                <a:cs typeface="Arial MT"/>
              </a:rPr>
              <a:t> </a:t>
            </a:r>
            <a:r>
              <a:rPr sz="3500" b="1" spc="-10" dirty="0">
                <a:latin typeface="Arial"/>
                <a:cs typeface="Arial"/>
              </a:rPr>
              <a:t>Real-</a:t>
            </a:r>
            <a:r>
              <a:rPr sz="3500" b="1" dirty="0">
                <a:latin typeface="Arial"/>
                <a:cs typeface="Arial"/>
              </a:rPr>
              <a:t>World</a:t>
            </a:r>
            <a:r>
              <a:rPr sz="3500" b="1" spc="-155" dirty="0">
                <a:latin typeface="Arial"/>
                <a:cs typeface="Arial"/>
              </a:rPr>
              <a:t> </a:t>
            </a:r>
            <a:r>
              <a:rPr sz="3500" b="1" spc="-110" dirty="0">
                <a:latin typeface="Arial"/>
                <a:cs typeface="Arial"/>
              </a:rPr>
              <a:t>Ap</a:t>
            </a:r>
            <a:r>
              <a:rPr lang="en-US" sz="3500" b="1" spc="-110" dirty="0">
                <a:latin typeface="Arial"/>
                <a:cs typeface="Arial"/>
              </a:rPr>
              <a:t>plicability</a:t>
            </a:r>
            <a:endParaRPr sz="35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046786" y="2009837"/>
            <a:ext cx="2350135" cy="58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00" b="1" spc="-10" dirty="0">
                <a:latin typeface="Arial"/>
                <a:cs typeface="Arial"/>
              </a:rPr>
              <a:t>Scalability</a:t>
            </a:r>
            <a:endParaRPr sz="37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88915" y="9299219"/>
            <a:ext cx="16917035" cy="14604"/>
          </a:xfrm>
          <a:custGeom>
            <a:avLst/>
            <a:gdLst/>
            <a:ahLst/>
            <a:cxnLst/>
            <a:rect l="l" t="t" r="r" b="b"/>
            <a:pathLst>
              <a:path w="16917035" h="14604">
                <a:moveTo>
                  <a:pt x="0" y="0"/>
                </a:moveTo>
                <a:lnTo>
                  <a:pt x="16916593" y="14171"/>
                </a:lnTo>
              </a:path>
            </a:pathLst>
          </a:custGeom>
          <a:ln w="9524">
            <a:solidFill>
              <a:srgbClr val="E2D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20130" y="9880865"/>
            <a:ext cx="1042035" cy="238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60"/>
              </a:lnSpc>
            </a:pPr>
            <a:r>
              <a:rPr sz="1500" dirty="0">
                <a:latin typeface="Arial MT"/>
                <a:cs typeface="Arial MT"/>
              </a:rPr>
              <a:t>Final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review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914730" y="9957065"/>
            <a:ext cx="4907280" cy="238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60"/>
              </a:lnSpc>
            </a:pPr>
            <a:r>
              <a:rPr sz="1500" dirty="0">
                <a:latin typeface="Arial MT"/>
                <a:cs typeface="Arial MT"/>
              </a:rPr>
              <a:t>Department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of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Artificial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Intelligence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and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Machine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Learning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9BD9FC-4648-BD18-6891-E0D8850228DE}"/>
              </a:ext>
            </a:extLst>
          </p:cNvPr>
          <p:cNvSpPr txBox="1"/>
          <p:nvPr/>
        </p:nvSpPr>
        <p:spPr>
          <a:xfrm>
            <a:off x="420131" y="3134521"/>
            <a:ext cx="834287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IN" sz="2800" b="1" dirty="0">
                <a:latin typeface="Arial MT"/>
              </a:rPr>
              <a:t>Financial Research</a:t>
            </a:r>
            <a:r>
              <a:rPr lang="en-IN" sz="2800" dirty="0">
                <a:latin typeface="Arial MT"/>
              </a:rPr>
              <a:t> – Supports structured stock research. </a:t>
            </a:r>
          </a:p>
          <a:p>
            <a:pPr lvl="0" algn="just"/>
            <a:r>
              <a:rPr lang="en-IN" sz="2800" b="1" dirty="0">
                <a:latin typeface="Arial MT"/>
              </a:rPr>
              <a:t>Paper Trading</a:t>
            </a:r>
            <a:r>
              <a:rPr lang="en-IN" sz="2800" dirty="0">
                <a:latin typeface="Arial MT"/>
              </a:rPr>
              <a:t> – Enables human-in-the-loop trading simulation. </a:t>
            </a:r>
          </a:p>
          <a:p>
            <a:pPr lvl="0" algn="just"/>
            <a:r>
              <a:rPr lang="en-IN" sz="2800" b="1" dirty="0">
                <a:latin typeface="Arial MT"/>
              </a:rPr>
              <a:t>Expert Review</a:t>
            </a:r>
            <a:r>
              <a:rPr lang="en-IN" sz="2800" dirty="0">
                <a:latin typeface="Arial MT"/>
              </a:rPr>
              <a:t> – Requires verified sources and expert validation. </a:t>
            </a:r>
          </a:p>
          <a:p>
            <a:pPr lvl="0" algn="just"/>
            <a:r>
              <a:rPr lang="en-IN" sz="2800" b="1" dirty="0">
                <a:latin typeface="Arial MT"/>
              </a:rPr>
              <a:t>Controlled Deployment</a:t>
            </a:r>
            <a:r>
              <a:rPr lang="en-IN" sz="2800" dirty="0">
                <a:latin typeface="Arial MT"/>
              </a:rPr>
              <a:t> – Real trading requires stronger security and operational controls</a:t>
            </a:r>
            <a:r>
              <a:rPr lang="en-IN" dirty="0"/>
              <a:t>.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376F82-8008-F941-39C5-2E659342F44F}"/>
              </a:ext>
            </a:extLst>
          </p:cNvPr>
          <p:cNvSpPr txBox="1"/>
          <p:nvPr/>
        </p:nvSpPr>
        <p:spPr>
          <a:xfrm>
            <a:off x="10515600" y="3157381"/>
            <a:ext cx="70104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Arial MT"/>
              </a:rPr>
              <a:t>More Users</a:t>
            </a:r>
            <a:r>
              <a:rPr lang="en-IN" sz="2800" dirty="0">
                <a:latin typeface="Arial MT"/>
              </a:rPr>
              <a:t> – Can be extended for wider user access.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Arial MT"/>
              </a:rPr>
              <a:t>More Data Sources</a:t>
            </a:r>
            <a:r>
              <a:rPr lang="en-IN" sz="2800" dirty="0">
                <a:latin typeface="Arial MT"/>
              </a:rPr>
              <a:t> – Can integrate additional financial data sources.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Arial MT"/>
              </a:rPr>
              <a:t>Better Infrastructure</a:t>
            </a:r>
            <a:r>
              <a:rPr lang="en-IN" sz="2800" dirty="0">
                <a:latin typeface="Arial MT"/>
              </a:rPr>
              <a:t> – Requires queues, authorization, and monitoring.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Arial MT"/>
              </a:rPr>
              <a:t>Higher Workload</a:t>
            </a:r>
            <a:r>
              <a:rPr lang="en-IN" sz="2800" dirty="0">
                <a:latin typeface="Arial MT"/>
              </a:rPr>
              <a:t> – More candidates increase inference and data costs.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F8B29-4874-3A0A-DFCF-A9B7A9644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2C7C8C71-D015-B572-D69E-97332E7F67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50202" y="359146"/>
            <a:ext cx="10764046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1610">
              <a:lnSpc>
                <a:spcPct val="100000"/>
              </a:lnSpc>
              <a:spcBef>
                <a:spcPts val="100"/>
              </a:spcBef>
            </a:pPr>
            <a:r>
              <a:rPr lang="en-US" u="sng" dirty="0">
                <a:uFill>
                  <a:solidFill>
                    <a:srgbClr val="F5C417"/>
                  </a:solidFill>
                </a:uFill>
              </a:rPr>
              <a:t>Result</a:t>
            </a:r>
            <a:endParaRPr spc="-1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197B0F09-AF1C-341A-9575-9BB896721D5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60684" y="86096"/>
            <a:ext cx="3575612" cy="1432340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BAB6C51D-930B-D3E1-522B-930F9A2BC5AE}"/>
              </a:ext>
            </a:extLst>
          </p:cNvPr>
          <p:cNvSpPr/>
          <p:nvPr/>
        </p:nvSpPr>
        <p:spPr>
          <a:xfrm>
            <a:off x="288915" y="9299219"/>
            <a:ext cx="16917035" cy="14604"/>
          </a:xfrm>
          <a:custGeom>
            <a:avLst/>
            <a:gdLst/>
            <a:ahLst/>
            <a:cxnLst/>
            <a:rect l="l" t="t" r="r" b="b"/>
            <a:pathLst>
              <a:path w="16917035" h="14604">
                <a:moveTo>
                  <a:pt x="0" y="0"/>
                </a:moveTo>
                <a:lnTo>
                  <a:pt x="16916593" y="14171"/>
                </a:lnTo>
              </a:path>
            </a:pathLst>
          </a:custGeom>
          <a:ln w="9524">
            <a:solidFill>
              <a:srgbClr val="E2D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6C93C00B-6A23-358D-E20F-30BC50C85755}"/>
              </a:ext>
            </a:extLst>
          </p:cNvPr>
          <p:cNvSpPr txBox="1"/>
          <p:nvPr/>
        </p:nvSpPr>
        <p:spPr>
          <a:xfrm>
            <a:off x="420130" y="9880865"/>
            <a:ext cx="1042035" cy="238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60"/>
              </a:lnSpc>
            </a:pPr>
            <a:r>
              <a:rPr sz="1500" dirty="0">
                <a:latin typeface="Arial MT"/>
                <a:cs typeface="Arial MT"/>
              </a:rPr>
              <a:t>Final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review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FB285250-B7AD-053C-9A81-5DA39E65F688}"/>
              </a:ext>
            </a:extLst>
          </p:cNvPr>
          <p:cNvSpPr txBox="1"/>
          <p:nvPr/>
        </p:nvSpPr>
        <p:spPr>
          <a:xfrm>
            <a:off x="12914730" y="9957065"/>
            <a:ext cx="4907280" cy="238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60"/>
              </a:lnSpc>
            </a:pPr>
            <a:r>
              <a:rPr sz="1500" dirty="0">
                <a:latin typeface="Arial MT"/>
                <a:cs typeface="Arial MT"/>
              </a:rPr>
              <a:t>Department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of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Artificial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Intelligence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and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Machine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Learning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5" name="Image 10">
            <a:extLst>
              <a:ext uri="{FF2B5EF4-FFF2-40B4-BE49-F238E27FC236}">
                <a16:creationId xmlns:a16="http://schemas.microsoft.com/office/drawing/2014/main" id="{17EA24B4-14A7-78CE-0361-63EFFF23FCC6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04454" y="1753876"/>
            <a:ext cx="11049000" cy="7322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058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79A5B-3B4F-571D-CC91-8FE3E7B77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F71268C1-04AE-2C74-EF28-D28682782A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50202" y="359146"/>
            <a:ext cx="10764046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1610">
              <a:lnSpc>
                <a:spcPct val="100000"/>
              </a:lnSpc>
              <a:spcBef>
                <a:spcPts val="100"/>
              </a:spcBef>
            </a:pPr>
            <a:r>
              <a:rPr lang="en-US" u="sng" dirty="0">
                <a:uFill>
                  <a:solidFill>
                    <a:srgbClr val="F5C417"/>
                  </a:solidFill>
                </a:uFill>
              </a:rPr>
              <a:t>Result</a:t>
            </a:r>
            <a:endParaRPr spc="-1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C32E4061-6151-9BEC-2072-EB8DE1741DC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60684" y="86096"/>
            <a:ext cx="3575612" cy="1432340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D8599945-42A8-CB04-F0D4-D357F7DFCFD8}"/>
              </a:ext>
            </a:extLst>
          </p:cNvPr>
          <p:cNvSpPr/>
          <p:nvPr/>
        </p:nvSpPr>
        <p:spPr>
          <a:xfrm>
            <a:off x="288915" y="9299219"/>
            <a:ext cx="16917035" cy="14604"/>
          </a:xfrm>
          <a:custGeom>
            <a:avLst/>
            <a:gdLst/>
            <a:ahLst/>
            <a:cxnLst/>
            <a:rect l="l" t="t" r="r" b="b"/>
            <a:pathLst>
              <a:path w="16917035" h="14604">
                <a:moveTo>
                  <a:pt x="0" y="0"/>
                </a:moveTo>
                <a:lnTo>
                  <a:pt x="16916593" y="14171"/>
                </a:lnTo>
              </a:path>
            </a:pathLst>
          </a:custGeom>
          <a:ln w="9524">
            <a:solidFill>
              <a:srgbClr val="E2D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11872245-3D3D-E4F5-508A-123108EC0AC8}"/>
              </a:ext>
            </a:extLst>
          </p:cNvPr>
          <p:cNvSpPr txBox="1"/>
          <p:nvPr/>
        </p:nvSpPr>
        <p:spPr>
          <a:xfrm>
            <a:off x="420130" y="9880865"/>
            <a:ext cx="1042035" cy="238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60"/>
              </a:lnSpc>
            </a:pPr>
            <a:r>
              <a:rPr sz="1500" dirty="0">
                <a:latin typeface="Arial MT"/>
                <a:cs typeface="Arial MT"/>
              </a:rPr>
              <a:t>Final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review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48EBE0EB-8D5D-5E2F-9663-01AE89E24967}"/>
              </a:ext>
            </a:extLst>
          </p:cNvPr>
          <p:cNvSpPr txBox="1"/>
          <p:nvPr/>
        </p:nvSpPr>
        <p:spPr>
          <a:xfrm>
            <a:off x="12914730" y="9957065"/>
            <a:ext cx="4907280" cy="238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60"/>
              </a:lnSpc>
            </a:pPr>
            <a:r>
              <a:rPr sz="1500" dirty="0">
                <a:latin typeface="Arial MT"/>
                <a:cs typeface="Arial MT"/>
              </a:rPr>
              <a:t>Department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of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Artificial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Intelligence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and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Machine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Learning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6" name="Image 11">
            <a:extLst>
              <a:ext uri="{FF2B5EF4-FFF2-40B4-BE49-F238E27FC236}">
                <a16:creationId xmlns:a16="http://schemas.microsoft.com/office/drawing/2014/main" id="{EC2129E4-1114-C86D-82FA-C678B9976696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50202" y="1518436"/>
            <a:ext cx="14732798" cy="7780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143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3073" rIns="0" bIns="0" rtlCol="0">
            <a:spAutoFit/>
          </a:bodyPr>
          <a:lstStyle/>
          <a:p>
            <a:pPr marL="139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</a:p>
        </p:txBody>
      </p: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02016" y="261585"/>
            <a:ext cx="3575612" cy="143234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964655" y="1652777"/>
            <a:ext cx="1920239" cy="75565"/>
          </a:xfrm>
          <a:custGeom>
            <a:avLst/>
            <a:gdLst/>
            <a:ahLst/>
            <a:cxnLst/>
            <a:rect l="l" t="t" r="r" b="b"/>
            <a:pathLst>
              <a:path w="1920239" h="75564">
                <a:moveTo>
                  <a:pt x="1920132" y="75437"/>
                </a:moveTo>
                <a:lnTo>
                  <a:pt x="0" y="75437"/>
                </a:lnTo>
                <a:lnTo>
                  <a:pt x="0" y="0"/>
                </a:lnTo>
                <a:lnTo>
                  <a:pt x="1920132" y="0"/>
                </a:lnTo>
                <a:lnTo>
                  <a:pt x="1920132" y="75437"/>
                </a:lnTo>
                <a:close/>
              </a:path>
            </a:pathLst>
          </a:custGeom>
          <a:solidFill>
            <a:srgbClr val="F5C4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88915" y="9299219"/>
            <a:ext cx="16917035" cy="14604"/>
          </a:xfrm>
          <a:custGeom>
            <a:avLst/>
            <a:gdLst/>
            <a:ahLst/>
            <a:cxnLst/>
            <a:rect l="l" t="t" r="r" b="b"/>
            <a:pathLst>
              <a:path w="16917035" h="14604">
                <a:moveTo>
                  <a:pt x="0" y="0"/>
                </a:moveTo>
                <a:lnTo>
                  <a:pt x="16916593" y="14171"/>
                </a:lnTo>
              </a:path>
            </a:pathLst>
          </a:custGeom>
          <a:ln w="9524">
            <a:solidFill>
              <a:srgbClr val="E2D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530">
              <a:lnSpc>
                <a:spcPts val="1760"/>
              </a:lnSpc>
            </a:pPr>
            <a:r>
              <a:rPr dirty="0"/>
              <a:t>Final</a:t>
            </a:r>
            <a:r>
              <a:rPr spc="-35" dirty="0"/>
              <a:t> </a:t>
            </a:r>
            <a:r>
              <a:rPr spc="-10" dirty="0"/>
              <a:t>review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760"/>
              </a:lnSpc>
            </a:pPr>
            <a:r>
              <a:rPr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Artificial</a:t>
            </a:r>
            <a:r>
              <a:rPr spc="-45" dirty="0"/>
              <a:t> </a:t>
            </a:r>
            <a:r>
              <a:rPr dirty="0"/>
              <a:t>Intelligence</a:t>
            </a:r>
            <a:r>
              <a:rPr spc="-5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Machine</a:t>
            </a:r>
            <a:r>
              <a:rPr spc="-45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4BC6936-4E86-0D3E-F6F9-474B566E9ED6}"/>
              </a:ext>
            </a:extLst>
          </p:cNvPr>
          <p:cNvSpPr txBox="1"/>
          <p:nvPr/>
        </p:nvSpPr>
        <p:spPr>
          <a:xfrm>
            <a:off x="1327660" y="2476500"/>
            <a:ext cx="1467434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Arial MT"/>
              </a:rPr>
              <a:t>AGENTTRADE</a:t>
            </a:r>
            <a:r>
              <a:rPr lang="en-IN" sz="2800" dirty="0">
                <a:latin typeface="Arial MT"/>
              </a:rPr>
              <a:t> provides a bounded multi-agent framework for stock research and paper trading.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Arial MT"/>
              </a:rPr>
              <a:t>Evidence Retrieval</a:t>
            </a:r>
            <a:r>
              <a:rPr lang="en-IN" sz="2800" dirty="0">
                <a:latin typeface="Arial MT"/>
              </a:rPr>
              <a:t> improves the quality of stock analysis compared with No-RAG.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Arial MT"/>
              </a:rPr>
              <a:t>Bull–Bear Debate and Critic Agents</a:t>
            </a:r>
            <a:r>
              <a:rPr lang="en-IN" sz="2800" dirty="0">
                <a:latin typeface="Arial MT"/>
              </a:rPr>
              <a:t> provide multiple perspectives and improve transparency.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Arial MT"/>
              </a:rPr>
              <a:t>Risk Controls and Human Approval</a:t>
            </a:r>
            <a:r>
              <a:rPr lang="en-IN" sz="2800" dirty="0">
                <a:latin typeface="Arial MT"/>
              </a:rPr>
              <a:t> keep paper-trading actions controlled and separate from research.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Arial MT"/>
              </a:rPr>
              <a:t>The prototype demonstrates the potential of </a:t>
            </a:r>
            <a:r>
              <a:rPr lang="en-IN" sz="2800" b="1" dirty="0">
                <a:latin typeface="Arial MT"/>
              </a:rPr>
              <a:t>multi-agent AI for structured and risk-aware financial research</a:t>
            </a:r>
            <a:endParaRPr lang="en-IN" sz="2800" dirty="0">
              <a:latin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5B2D8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2832354" y="487679"/>
            <a:ext cx="12618720" cy="9791700"/>
            <a:chOff x="2832354" y="487679"/>
            <a:chExt cx="12618720" cy="9791700"/>
          </a:xfrm>
        </p:grpSpPr>
        <p:sp>
          <p:nvSpPr>
            <p:cNvPr id="4" name="object 4"/>
            <p:cNvSpPr/>
            <p:nvPr/>
          </p:nvSpPr>
          <p:spPr>
            <a:xfrm>
              <a:off x="2832341" y="487679"/>
              <a:ext cx="12618720" cy="9791700"/>
            </a:xfrm>
            <a:custGeom>
              <a:avLst/>
              <a:gdLst/>
              <a:ahLst/>
              <a:cxnLst/>
              <a:rect l="l" t="t" r="r" b="b"/>
              <a:pathLst>
                <a:path w="12618719" h="9791700">
                  <a:moveTo>
                    <a:pt x="12618720" y="6311900"/>
                  </a:moveTo>
                  <a:lnTo>
                    <a:pt x="12618517" y="6261100"/>
                  </a:lnTo>
                  <a:lnTo>
                    <a:pt x="12617882" y="6197600"/>
                  </a:lnTo>
                  <a:lnTo>
                    <a:pt x="12616828" y="6146800"/>
                  </a:lnTo>
                  <a:lnTo>
                    <a:pt x="12615355" y="6096000"/>
                  </a:lnTo>
                  <a:lnTo>
                    <a:pt x="12613462" y="6045200"/>
                  </a:lnTo>
                  <a:lnTo>
                    <a:pt x="12611164" y="5994400"/>
                  </a:lnTo>
                  <a:lnTo>
                    <a:pt x="12608433" y="5943600"/>
                  </a:lnTo>
                  <a:lnTo>
                    <a:pt x="12605309" y="5892800"/>
                  </a:lnTo>
                  <a:lnTo>
                    <a:pt x="12601766" y="5842000"/>
                  </a:lnTo>
                  <a:lnTo>
                    <a:pt x="12597816" y="5791200"/>
                  </a:lnTo>
                  <a:lnTo>
                    <a:pt x="12593447" y="5740400"/>
                  </a:lnTo>
                  <a:lnTo>
                    <a:pt x="12588685" y="5689600"/>
                  </a:lnTo>
                  <a:lnTo>
                    <a:pt x="12583516" y="5638800"/>
                  </a:lnTo>
                  <a:lnTo>
                    <a:pt x="12577940" y="5588000"/>
                  </a:lnTo>
                  <a:lnTo>
                    <a:pt x="12571971" y="5537200"/>
                  </a:lnTo>
                  <a:lnTo>
                    <a:pt x="12565596" y="5486400"/>
                  </a:lnTo>
                  <a:lnTo>
                    <a:pt x="12558827" y="5435600"/>
                  </a:lnTo>
                  <a:lnTo>
                    <a:pt x="12551664" y="5384800"/>
                  </a:lnTo>
                  <a:lnTo>
                    <a:pt x="12544095" y="5334000"/>
                  </a:lnTo>
                  <a:lnTo>
                    <a:pt x="12536145" y="5283200"/>
                  </a:lnTo>
                  <a:lnTo>
                    <a:pt x="12527801" y="5232400"/>
                  </a:lnTo>
                  <a:lnTo>
                    <a:pt x="12519063" y="5181600"/>
                  </a:lnTo>
                  <a:lnTo>
                    <a:pt x="12509945" y="5130800"/>
                  </a:lnTo>
                  <a:lnTo>
                    <a:pt x="12500432" y="5080000"/>
                  </a:lnTo>
                  <a:lnTo>
                    <a:pt x="12490539" y="5041900"/>
                  </a:lnTo>
                  <a:lnTo>
                    <a:pt x="12480265" y="4991100"/>
                  </a:lnTo>
                  <a:lnTo>
                    <a:pt x="12469609" y="4940300"/>
                  </a:lnTo>
                  <a:lnTo>
                    <a:pt x="12458573" y="4889500"/>
                  </a:lnTo>
                  <a:lnTo>
                    <a:pt x="12447156" y="4838700"/>
                  </a:lnTo>
                  <a:lnTo>
                    <a:pt x="12435357" y="4787900"/>
                  </a:lnTo>
                  <a:lnTo>
                    <a:pt x="12423191" y="4737100"/>
                  </a:lnTo>
                  <a:lnTo>
                    <a:pt x="12410643" y="4699000"/>
                  </a:lnTo>
                  <a:lnTo>
                    <a:pt x="12397740" y="4648200"/>
                  </a:lnTo>
                  <a:lnTo>
                    <a:pt x="12384456" y="4597400"/>
                  </a:lnTo>
                  <a:lnTo>
                    <a:pt x="12370803" y="4546600"/>
                  </a:lnTo>
                  <a:lnTo>
                    <a:pt x="12356783" y="4508500"/>
                  </a:lnTo>
                  <a:lnTo>
                    <a:pt x="12342393" y="4457700"/>
                  </a:lnTo>
                  <a:lnTo>
                    <a:pt x="12327649" y="4406900"/>
                  </a:lnTo>
                  <a:lnTo>
                    <a:pt x="12312536" y="4356100"/>
                  </a:lnTo>
                  <a:lnTo>
                    <a:pt x="12297067" y="4318000"/>
                  </a:lnTo>
                  <a:lnTo>
                    <a:pt x="12281243" y="4267200"/>
                  </a:lnTo>
                  <a:lnTo>
                    <a:pt x="12265050" y="4216400"/>
                  </a:lnTo>
                  <a:lnTo>
                    <a:pt x="12248515" y="4178300"/>
                  </a:lnTo>
                  <a:lnTo>
                    <a:pt x="12231611" y="4127500"/>
                  </a:lnTo>
                  <a:lnTo>
                    <a:pt x="12214365" y="4076700"/>
                  </a:lnTo>
                  <a:lnTo>
                    <a:pt x="12196763" y="4038600"/>
                  </a:lnTo>
                  <a:lnTo>
                    <a:pt x="12178817" y="3987800"/>
                  </a:lnTo>
                  <a:lnTo>
                    <a:pt x="12160529" y="3937000"/>
                  </a:lnTo>
                  <a:lnTo>
                    <a:pt x="12141886" y="3898900"/>
                  </a:lnTo>
                  <a:lnTo>
                    <a:pt x="12122899" y="3848100"/>
                  </a:lnTo>
                  <a:lnTo>
                    <a:pt x="12103570" y="3810000"/>
                  </a:lnTo>
                  <a:lnTo>
                    <a:pt x="12083910" y="3759200"/>
                  </a:lnTo>
                  <a:lnTo>
                    <a:pt x="12063895" y="3721100"/>
                  </a:lnTo>
                  <a:lnTo>
                    <a:pt x="12043550" y="3670300"/>
                  </a:lnTo>
                  <a:lnTo>
                    <a:pt x="12022874" y="3632200"/>
                  </a:lnTo>
                  <a:lnTo>
                    <a:pt x="12001856" y="3581400"/>
                  </a:lnTo>
                  <a:lnTo>
                    <a:pt x="11980507" y="3543300"/>
                  </a:lnTo>
                  <a:lnTo>
                    <a:pt x="11958828" y="3492500"/>
                  </a:lnTo>
                  <a:lnTo>
                    <a:pt x="11936819" y="3454400"/>
                  </a:lnTo>
                  <a:lnTo>
                    <a:pt x="11914480" y="3403600"/>
                  </a:lnTo>
                  <a:lnTo>
                    <a:pt x="11891823" y="3365500"/>
                  </a:lnTo>
                  <a:lnTo>
                    <a:pt x="11868823" y="3327400"/>
                  </a:lnTo>
                  <a:lnTo>
                    <a:pt x="11845519" y="3276600"/>
                  </a:lnTo>
                  <a:lnTo>
                    <a:pt x="11821884" y="3238500"/>
                  </a:lnTo>
                  <a:lnTo>
                    <a:pt x="11797932" y="3187700"/>
                  </a:lnTo>
                  <a:lnTo>
                    <a:pt x="11773662" y="3149600"/>
                  </a:lnTo>
                  <a:lnTo>
                    <a:pt x="11749075" y="3111500"/>
                  </a:lnTo>
                  <a:lnTo>
                    <a:pt x="11724170" y="3073400"/>
                  </a:lnTo>
                  <a:lnTo>
                    <a:pt x="11698961" y="3022600"/>
                  </a:lnTo>
                  <a:lnTo>
                    <a:pt x="11673434" y="2984500"/>
                  </a:lnTo>
                  <a:lnTo>
                    <a:pt x="11647589" y="2946400"/>
                  </a:lnTo>
                  <a:lnTo>
                    <a:pt x="11621453" y="2908300"/>
                  </a:lnTo>
                  <a:lnTo>
                    <a:pt x="11594998" y="2857500"/>
                  </a:lnTo>
                  <a:lnTo>
                    <a:pt x="11568240" y="2819400"/>
                  </a:lnTo>
                  <a:lnTo>
                    <a:pt x="11541176" y="2781300"/>
                  </a:lnTo>
                  <a:lnTo>
                    <a:pt x="11513820" y="2743200"/>
                  </a:lnTo>
                  <a:lnTo>
                    <a:pt x="11486147" y="2705100"/>
                  </a:lnTo>
                  <a:lnTo>
                    <a:pt x="11458194" y="2654300"/>
                  </a:lnTo>
                  <a:lnTo>
                    <a:pt x="11429937" y="2616200"/>
                  </a:lnTo>
                  <a:lnTo>
                    <a:pt x="11401374" y="2578100"/>
                  </a:lnTo>
                  <a:lnTo>
                    <a:pt x="11372533" y="2540000"/>
                  </a:lnTo>
                  <a:lnTo>
                    <a:pt x="11343386" y="2501900"/>
                  </a:lnTo>
                  <a:lnTo>
                    <a:pt x="11313960" y="2463800"/>
                  </a:lnTo>
                  <a:lnTo>
                    <a:pt x="11284242" y="2425700"/>
                  </a:lnTo>
                  <a:lnTo>
                    <a:pt x="11254232" y="2387600"/>
                  </a:lnTo>
                  <a:lnTo>
                    <a:pt x="11223930" y="2349500"/>
                  </a:lnTo>
                  <a:lnTo>
                    <a:pt x="11193361" y="2311400"/>
                  </a:lnTo>
                  <a:lnTo>
                    <a:pt x="11162500" y="2273300"/>
                  </a:lnTo>
                  <a:lnTo>
                    <a:pt x="11131360" y="2235200"/>
                  </a:lnTo>
                  <a:lnTo>
                    <a:pt x="11099940" y="2197100"/>
                  </a:lnTo>
                  <a:lnTo>
                    <a:pt x="11068241" y="2171700"/>
                  </a:lnTo>
                  <a:lnTo>
                    <a:pt x="11036275" y="2133600"/>
                  </a:lnTo>
                  <a:lnTo>
                    <a:pt x="10971505" y="2057400"/>
                  </a:lnTo>
                  <a:lnTo>
                    <a:pt x="10905655" y="1981200"/>
                  </a:lnTo>
                  <a:lnTo>
                    <a:pt x="10872318" y="1955800"/>
                  </a:lnTo>
                  <a:lnTo>
                    <a:pt x="10804868" y="1879600"/>
                  </a:lnTo>
                  <a:lnTo>
                    <a:pt x="10770743" y="1841500"/>
                  </a:lnTo>
                  <a:lnTo>
                    <a:pt x="10736364" y="1816100"/>
                  </a:lnTo>
                  <a:lnTo>
                    <a:pt x="10666819" y="1739900"/>
                  </a:lnTo>
                  <a:lnTo>
                    <a:pt x="10631653" y="1714500"/>
                  </a:lnTo>
                  <a:lnTo>
                    <a:pt x="10596245" y="1676400"/>
                  </a:lnTo>
                  <a:lnTo>
                    <a:pt x="10560583" y="1651000"/>
                  </a:lnTo>
                  <a:lnTo>
                    <a:pt x="10524668" y="1612900"/>
                  </a:lnTo>
                  <a:lnTo>
                    <a:pt x="10488498" y="1587500"/>
                  </a:lnTo>
                  <a:lnTo>
                    <a:pt x="10415422" y="1511300"/>
                  </a:lnTo>
                  <a:lnTo>
                    <a:pt x="10341356" y="1460500"/>
                  </a:lnTo>
                  <a:lnTo>
                    <a:pt x="10303967" y="1422400"/>
                  </a:lnTo>
                  <a:lnTo>
                    <a:pt x="10266337" y="1397000"/>
                  </a:lnTo>
                  <a:lnTo>
                    <a:pt x="10228466" y="1358900"/>
                  </a:lnTo>
                  <a:lnTo>
                    <a:pt x="10152012" y="1308100"/>
                  </a:lnTo>
                  <a:lnTo>
                    <a:pt x="10113429" y="1270000"/>
                  </a:lnTo>
                  <a:lnTo>
                    <a:pt x="9996310" y="1193800"/>
                  </a:lnTo>
                  <a:lnTo>
                    <a:pt x="9956813" y="1155700"/>
                  </a:lnTo>
                  <a:lnTo>
                    <a:pt x="9755975" y="1028700"/>
                  </a:lnTo>
                  <a:lnTo>
                    <a:pt x="9715157" y="990600"/>
                  </a:lnTo>
                  <a:lnTo>
                    <a:pt x="9465716" y="838200"/>
                  </a:lnTo>
                  <a:lnTo>
                    <a:pt x="9423413" y="825500"/>
                  </a:lnTo>
                  <a:lnTo>
                    <a:pt x="9208872" y="698500"/>
                  </a:lnTo>
                  <a:lnTo>
                    <a:pt x="9165361" y="685800"/>
                  </a:lnTo>
                  <a:lnTo>
                    <a:pt x="9033675" y="609600"/>
                  </a:lnTo>
                  <a:lnTo>
                    <a:pt x="8989403" y="596900"/>
                  </a:lnTo>
                  <a:lnTo>
                    <a:pt x="8944940" y="571500"/>
                  </a:lnTo>
                  <a:lnTo>
                    <a:pt x="8900287" y="558800"/>
                  </a:lnTo>
                  <a:lnTo>
                    <a:pt x="8810434" y="508000"/>
                  </a:lnTo>
                  <a:lnTo>
                    <a:pt x="8765235" y="495300"/>
                  </a:lnTo>
                  <a:lnTo>
                    <a:pt x="8719858" y="469900"/>
                  </a:lnTo>
                  <a:lnTo>
                    <a:pt x="8628570" y="444500"/>
                  </a:lnTo>
                  <a:lnTo>
                    <a:pt x="8582660" y="419100"/>
                  </a:lnTo>
                  <a:lnTo>
                    <a:pt x="8536572" y="406400"/>
                  </a:lnTo>
                  <a:lnTo>
                    <a:pt x="8490318" y="381000"/>
                  </a:lnTo>
                  <a:lnTo>
                    <a:pt x="8397291" y="355600"/>
                  </a:lnTo>
                  <a:lnTo>
                    <a:pt x="8350529" y="330200"/>
                  </a:lnTo>
                  <a:lnTo>
                    <a:pt x="8114258" y="266700"/>
                  </a:lnTo>
                  <a:lnTo>
                    <a:pt x="8066532" y="241300"/>
                  </a:lnTo>
                  <a:lnTo>
                    <a:pt x="7776921" y="165100"/>
                  </a:lnTo>
                  <a:lnTo>
                    <a:pt x="7728140" y="165100"/>
                  </a:lnTo>
                  <a:lnTo>
                    <a:pt x="7482065" y="101600"/>
                  </a:lnTo>
                  <a:lnTo>
                    <a:pt x="7432434" y="101600"/>
                  </a:lnTo>
                  <a:lnTo>
                    <a:pt x="7332764" y="76200"/>
                  </a:lnTo>
                  <a:lnTo>
                    <a:pt x="7282739" y="76200"/>
                  </a:lnTo>
                  <a:lnTo>
                    <a:pt x="7232586" y="63500"/>
                  </a:lnTo>
                  <a:lnTo>
                    <a:pt x="7182294" y="63500"/>
                  </a:lnTo>
                  <a:lnTo>
                    <a:pt x="7131875" y="50800"/>
                  </a:lnTo>
                  <a:lnTo>
                    <a:pt x="7081342" y="50800"/>
                  </a:lnTo>
                  <a:lnTo>
                    <a:pt x="7030682" y="38100"/>
                  </a:lnTo>
                  <a:lnTo>
                    <a:pt x="6979894" y="38100"/>
                  </a:lnTo>
                  <a:lnTo>
                    <a:pt x="6928993" y="25400"/>
                  </a:lnTo>
                  <a:lnTo>
                    <a:pt x="6826821" y="25400"/>
                  </a:lnTo>
                  <a:lnTo>
                    <a:pt x="6775577" y="12700"/>
                  </a:lnTo>
                  <a:lnTo>
                    <a:pt x="6672720" y="12700"/>
                  </a:lnTo>
                  <a:lnTo>
                    <a:pt x="6621132" y="0"/>
                  </a:lnTo>
                  <a:lnTo>
                    <a:pt x="5997600" y="0"/>
                  </a:lnTo>
                  <a:lnTo>
                    <a:pt x="5946013" y="12700"/>
                  </a:lnTo>
                  <a:lnTo>
                    <a:pt x="5843155" y="12700"/>
                  </a:lnTo>
                  <a:lnTo>
                    <a:pt x="5791911" y="25400"/>
                  </a:lnTo>
                  <a:lnTo>
                    <a:pt x="5689739" y="25400"/>
                  </a:lnTo>
                  <a:lnTo>
                    <a:pt x="5638838" y="38100"/>
                  </a:lnTo>
                  <a:lnTo>
                    <a:pt x="5588051" y="38100"/>
                  </a:lnTo>
                  <a:lnTo>
                    <a:pt x="5537390" y="50800"/>
                  </a:lnTo>
                  <a:lnTo>
                    <a:pt x="5486857" y="50800"/>
                  </a:lnTo>
                  <a:lnTo>
                    <a:pt x="5436438" y="63500"/>
                  </a:lnTo>
                  <a:lnTo>
                    <a:pt x="5386146" y="63500"/>
                  </a:lnTo>
                  <a:lnTo>
                    <a:pt x="5335994" y="76200"/>
                  </a:lnTo>
                  <a:lnTo>
                    <a:pt x="5285968" y="76200"/>
                  </a:lnTo>
                  <a:lnTo>
                    <a:pt x="5186299" y="101600"/>
                  </a:lnTo>
                  <a:lnTo>
                    <a:pt x="5136667" y="101600"/>
                  </a:lnTo>
                  <a:lnTo>
                    <a:pt x="4890592" y="165100"/>
                  </a:lnTo>
                  <a:lnTo>
                    <a:pt x="4841811" y="165100"/>
                  </a:lnTo>
                  <a:lnTo>
                    <a:pt x="4552200" y="241300"/>
                  </a:lnTo>
                  <a:lnTo>
                    <a:pt x="4504474" y="266700"/>
                  </a:lnTo>
                  <a:lnTo>
                    <a:pt x="4268203" y="330200"/>
                  </a:lnTo>
                  <a:lnTo>
                    <a:pt x="4221442" y="355600"/>
                  </a:lnTo>
                  <a:lnTo>
                    <a:pt x="4128414" y="381000"/>
                  </a:lnTo>
                  <a:lnTo>
                    <a:pt x="4082161" y="406400"/>
                  </a:lnTo>
                  <a:lnTo>
                    <a:pt x="4036072" y="419100"/>
                  </a:lnTo>
                  <a:lnTo>
                    <a:pt x="3990162" y="444500"/>
                  </a:lnTo>
                  <a:lnTo>
                    <a:pt x="3898874" y="469900"/>
                  </a:lnTo>
                  <a:lnTo>
                    <a:pt x="3853497" y="495300"/>
                  </a:lnTo>
                  <a:lnTo>
                    <a:pt x="3808298" y="508000"/>
                  </a:lnTo>
                  <a:lnTo>
                    <a:pt x="3718433" y="558800"/>
                  </a:lnTo>
                  <a:lnTo>
                    <a:pt x="3673792" y="571500"/>
                  </a:lnTo>
                  <a:lnTo>
                    <a:pt x="3629329" y="596900"/>
                  </a:lnTo>
                  <a:lnTo>
                    <a:pt x="3585045" y="609600"/>
                  </a:lnTo>
                  <a:lnTo>
                    <a:pt x="3453371" y="685800"/>
                  </a:lnTo>
                  <a:lnTo>
                    <a:pt x="3409861" y="698500"/>
                  </a:lnTo>
                  <a:lnTo>
                    <a:pt x="3195320" y="825500"/>
                  </a:lnTo>
                  <a:lnTo>
                    <a:pt x="3153016" y="838200"/>
                  </a:lnTo>
                  <a:lnTo>
                    <a:pt x="2903575" y="990600"/>
                  </a:lnTo>
                  <a:lnTo>
                    <a:pt x="2862757" y="1028700"/>
                  </a:lnTo>
                  <a:lnTo>
                    <a:pt x="2661920" y="1155700"/>
                  </a:lnTo>
                  <a:lnTo>
                    <a:pt x="2622423" y="1193800"/>
                  </a:lnTo>
                  <a:lnTo>
                    <a:pt x="2505303" y="1270000"/>
                  </a:lnTo>
                  <a:lnTo>
                    <a:pt x="2466721" y="1308100"/>
                  </a:lnTo>
                  <a:lnTo>
                    <a:pt x="2390267" y="1358900"/>
                  </a:lnTo>
                  <a:lnTo>
                    <a:pt x="2352395" y="1397000"/>
                  </a:lnTo>
                  <a:lnTo>
                    <a:pt x="2314765" y="1422400"/>
                  </a:lnTo>
                  <a:lnTo>
                    <a:pt x="2277376" y="1460500"/>
                  </a:lnTo>
                  <a:lnTo>
                    <a:pt x="2203310" y="1511300"/>
                  </a:lnTo>
                  <a:lnTo>
                    <a:pt x="2130234" y="1587500"/>
                  </a:lnTo>
                  <a:lnTo>
                    <a:pt x="2094064" y="1612900"/>
                  </a:lnTo>
                  <a:lnTo>
                    <a:pt x="2058149" y="1651000"/>
                  </a:lnTo>
                  <a:lnTo>
                    <a:pt x="2022487" y="1676400"/>
                  </a:lnTo>
                  <a:lnTo>
                    <a:pt x="1987067" y="1714500"/>
                  </a:lnTo>
                  <a:lnTo>
                    <a:pt x="1951913" y="1739900"/>
                  </a:lnTo>
                  <a:lnTo>
                    <a:pt x="1882368" y="1816100"/>
                  </a:lnTo>
                  <a:lnTo>
                    <a:pt x="1847989" y="1841500"/>
                  </a:lnTo>
                  <a:lnTo>
                    <a:pt x="1813864" y="1879600"/>
                  </a:lnTo>
                  <a:lnTo>
                    <a:pt x="1746415" y="1955800"/>
                  </a:lnTo>
                  <a:lnTo>
                    <a:pt x="1713077" y="1981200"/>
                  </a:lnTo>
                  <a:lnTo>
                    <a:pt x="1647228" y="2057400"/>
                  </a:lnTo>
                  <a:lnTo>
                    <a:pt x="1582458" y="2133600"/>
                  </a:lnTo>
                  <a:lnTo>
                    <a:pt x="1550492" y="2171700"/>
                  </a:lnTo>
                  <a:lnTo>
                    <a:pt x="1518793" y="2197100"/>
                  </a:lnTo>
                  <a:lnTo>
                    <a:pt x="1487373" y="2235200"/>
                  </a:lnTo>
                  <a:lnTo>
                    <a:pt x="1456232" y="2273300"/>
                  </a:lnTo>
                  <a:lnTo>
                    <a:pt x="1425371" y="2311400"/>
                  </a:lnTo>
                  <a:lnTo>
                    <a:pt x="1394790" y="2349500"/>
                  </a:lnTo>
                  <a:lnTo>
                    <a:pt x="1364500" y="2387600"/>
                  </a:lnTo>
                  <a:lnTo>
                    <a:pt x="1334490" y="2425700"/>
                  </a:lnTo>
                  <a:lnTo>
                    <a:pt x="1304772" y="2463800"/>
                  </a:lnTo>
                  <a:lnTo>
                    <a:pt x="1275346" y="2501900"/>
                  </a:lnTo>
                  <a:lnTo>
                    <a:pt x="1246200" y="2540000"/>
                  </a:lnTo>
                  <a:lnTo>
                    <a:pt x="1217358" y="2578100"/>
                  </a:lnTo>
                  <a:lnTo>
                    <a:pt x="1188796" y="2616200"/>
                  </a:lnTo>
                  <a:lnTo>
                    <a:pt x="1160538" y="2654300"/>
                  </a:lnTo>
                  <a:lnTo>
                    <a:pt x="1132586" y="2705100"/>
                  </a:lnTo>
                  <a:lnTo>
                    <a:pt x="1104912" y="2743200"/>
                  </a:lnTo>
                  <a:lnTo>
                    <a:pt x="1077556" y="2781300"/>
                  </a:lnTo>
                  <a:lnTo>
                    <a:pt x="1050493" y="2819400"/>
                  </a:lnTo>
                  <a:lnTo>
                    <a:pt x="1023734" y="2857500"/>
                  </a:lnTo>
                  <a:lnTo>
                    <a:pt x="997280" y="2908300"/>
                  </a:lnTo>
                  <a:lnTo>
                    <a:pt x="971143" y="2946400"/>
                  </a:lnTo>
                  <a:lnTo>
                    <a:pt x="945299" y="2984500"/>
                  </a:lnTo>
                  <a:lnTo>
                    <a:pt x="919772" y="3022600"/>
                  </a:lnTo>
                  <a:lnTo>
                    <a:pt x="894562" y="3073400"/>
                  </a:lnTo>
                  <a:lnTo>
                    <a:pt x="869657" y="3111500"/>
                  </a:lnTo>
                  <a:lnTo>
                    <a:pt x="845070" y="3149600"/>
                  </a:lnTo>
                  <a:lnTo>
                    <a:pt x="820801" y="3187700"/>
                  </a:lnTo>
                  <a:lnTo>
                    <a:pt x="796848" y="3238500"/>
                  </a:lnTo>
                  <a:lnTo>
                    <a:pt x="773214" y="3276600"/>
                  </a:lnTo>
                  <a:lnTo>
                    <a:pt x="749909" y="3327400"/>
                  </a:lnTo>
                  <a:lnTo>
                    <a:pt x="726909" y="3365500"/>
                  </a:lnTo>
                  <a:lnTo>
                    <a:pt x="704253" y="3403600"/>
                  </a:lnTo>
                  <a:lnTo>
                    <a:pt x="681913" y="3454400"/>
                  </a:lnTo>
                  <a:lnTo>
                    <a:pt x="659904" y="3492500"/>
                  </a:lnTo>
                  <a:lnTo>
                    <a:pt x="638225" y="3543300"/>
                  </a:lnTo>
                  <a:lnTo>
                    <a:pt x="616877" y="3581400"/>
                  </a:lnTo>
                  <a:lnTo>
                    <a:pt x="595858" y="3632200"/>
                  </a:lnTo>
                  <a:lnTo>
                    <a:pt x="575183" y="3670300"/>
                  </a:lnTo>
                  <a:lnTo>
                    <a:pt x="554837" y="3721100"/>
                  </a:lnTo>
                  <a:lnTo>
                    <a:pt x="534822" y="3759200"/>
                  </a:lnTo>
                  <a:lnTo>
                    <a:pt x="515162" y="3810000"/>
                  </a:lnTo>
                  <a:lnTo>
                    <a:pt x="495833" y="3848100"/>
                  </a:lnTo>
                  <a:lnTo>
                    <a:pt x="476846" y="3898900"/>
                  </a:lnTo>
                  <a:lnTo>
                    <a:pt x="458203" y="3937000"/>
                  </a:lnTo>
                  <a:lnTo>
                    <a:pt x="439915" y="3987800"/>
                  </a:lnTo>
                  <a:lnTo>
                    <a:pt x="421957" y="4038600"/>
                  </a:lnTo>
                  <a:lnTo>
                    <a:pt x="404368" y="4076700"/>
                  </a:lnTo>
                  <a:lnTo>
                    <a:pt x="387121" y="4127500"/>
                  </a:lnTo>
                  <a:lnTo>
                    <a:pt x="370217" y="4178300"/>
                  </a:lnTo>
                  <a:lnTo>
                    <a:pt x="353682" y="4216400"/>
                  </a:lnTo>
                  <a:lnTo>
                    <a:pt x="337489" y="4267200"/>
                  </a:lnTo>
                  <a:lnTo>
                    <a:pt x="321665" y="4318000"/>
                  </a:lnTo>
                  <a:lnTo>
                    <a:pt x="306197" y="4356100"/>
                  </a:lnTo>
                  <a:lnTo>
                    <a:pt x="291084" y="4406900"/>
                  </a:lnTo>
                  <a:lnTo>
                    <a:pt x="276339" y="4457700"/>
                  </a:lnTo>
                  <a:lnTo>
                    <a:pt x="261950" y="4508500"/>
                  </a:lnTo>
                  <a:lnTo>
                    <a:pt x="247929" y="4546600"/>
                  </a:lnTo>
                  <a:lnTo>
                    <a:pt x="234276" y="4597400"/>
                  </a:lnTo>
                  <a:lnTo>
                    <a:pt x="220992" y="4648200"/>
                  </a:lnTo>
                  <a:lnTo>
                    <a:pt x="208089" y="4699000"/>
                  </a:lnTo>
                  <a:lnTo>
                    <a:pt x="195541" y="4737100"/>
                  </a:lnTo>
                  <a:lnTo>
                    <a:pt x="183375" y="4787900"/>
                  </a:lnTo>
                  <a:lnTo>
                    <a:pt x="171577" y="4838700"/>
                  </a:lnTo>
                  <a:lnTo>
                    <a:pt x="160159" y="4889500"/>
                  </a:lnTo>
                  <a:lnTo>
                    <a:pt x="149123" y="4940300"/>
                  </a:lnTo>
                  <a:lnTo>
                    <a:pt x="138468" y="4991100"/>
                  </a:lnTo>
                  <a:lnTo>
                    <a:pt x="128193" y="5041900"/>
                  </a:lnTo>
                  <a:lnTo>
                    <a:pt x="118300" y="5080000"/>
                  </a:lnTo>
                  <a:lnTo>
                    <a:pt x="108788" y="5130800"/>
                  </a:lnTo>
                  <a:lnTo>
                    <a:pt x="99669" y="5181600"/>
                  </a:lnTo>
                  <a:lnTo>
                    <a:pt x="90932" y="5232400"/>
                  </a:lnTo>
                  <a:lnTo>
                    <a:pt x="82588" y="5283200"/>
                  </a:lnTo>
                  <a:lnTo>
                    <a:pt x="74637" y="5334000"/>
                  </a:lnTo>
                  <a:lnTo>
                    <a:pt x="67068" y="5384800"/>
                  </a:lnTo>
                  <a:lnTo>
                    <a:pt x="59905" y="5435600"/>
                  </a:lnTo>
                  <a:lnTo>
                    <a:pt x="53136" y="5486400"/>
                  </a:lnTo>
                  <a:lnTo>
                    <a:pt x="46761" y="5537200"/>
                  </a:lnTo>
                  <a:lnTo>
                    <a:pt x="40792" y="5588000"/>
                  </a:lnTo>
                  <a:lnTo>
                    <a:pt x="35217" y="5638800"/>
                  </a:lnTo>
                  <a:lnTo>
                    <a:pt x="30048" y="5689600"/>
                  </a:lnTo>
                  <a:lnTo>
                    <a:pt x="25285" y="5740400"/>
                  </a:lnTo>
                  <a:lnTo>
                    <a:pt x="20916" y="5791200"/>
                  </a:lnTo>
                  <a:lnTo>
                    <a:pt x="16967" y="5842000"/>
                  </a:lnTo>
                  <a:lnTo>
                    <a:pt x="13423" y="5892800"/>
                  </a:lnTo>
                  <a:lnTo>
                    <a:pt x="10299" y="5943600"/>
                  </a:lnTo>
                  <a:lnTo>
                    <a:pt x="7569" y="5994400"/>
                  </a:lnTo>
                  <a:lnTo>
                    <a:pt x="5270" y="6045200"/>
                  </a:lnTo>
                  <a:lnTo>
                    <a:pt x="3378" y="6096000"/>
                  </a:lnTo>
                  <a:lnTo>
                    <a:pt x="1905" y="6146800"/>
                  </a:lnTo>
                  <a:lnTo>
                    <a:pt x="850" y="6197600"/>
                  </a:lnTo>
                  <a:lnTo>
                    <a:pt x="215" y="6261100"/>
                  </a:lnTo>
                  <a:lnTo>
                    <a:pt x="0" y="6311900"/>
                  </a:lnTo>
                  <a:lnTo>
                    <a:pt x="215" y="6362700"/>
                  </a:lnTo>
                  <a:lnTo>
                    <a:pt x="850" y="6413500"/>
                  </a:lnTo>
                  <a:lnTo>
                    <a:pt x="1905" y="6464300"/>
                  </a:lnTo>
                  <a:lnTo>
                    <a:pt x="3378" y="6515100"/>
                  </a:lnTo>
                  <a:lnTo>
                    <a:pt x="5270" y="6565900"/>
                  </a:lnTo>
                  <a:lnTo>
                    <a:pt x="7569" y="6616700"/>
                  </a:lnTo>
                  <a:lnTo>
                    <a:pt x="10299" y="6667500"/>
                  </a:lnTo>
                  <a:lnTo>
                    <a:pt x="13423" y="6718300"/>
                  </a:lnTo>
                  <a:lnTo>
                    <a:pt x="16967" y="6769100"/>
                  </a:lnTo>
                  <a:lnTo>
                    <a:pt x="20916" y="6819900"/>
                  </a:lnTo>
                  <a:lnTo>
                    <a:pt x="25285" y="6870700"/>
                  </a:lnTo>
                  <a:lnTo>
                    <a:pt x="30048" y="6921500"/>
                  </a:lnTo>
                  <a:lnTo>
                    <a:pt x="35217" y="6972300"/>
                  </a:lnTo>
                  <a:lnTo>
                    <a:pt x="40792" y="7023100"/>
                  </a:lnTo>
                  <a:lnTo>
                    <a:pt x="46761" y="7073900"/>
                  </a:lnTo>
                  <a:lnTo>
                    <a:pt x="53136" y="7124700"/>
                  </a:lnTo>
                  <a:lnTo>
                    <a:pt x="59905" y="7175500"/>
                  </a:lnTo>
                  <a:lnTo>
                    <a:pt x="67068" y="7226300"/>
                  </a:lnTo>
                  <a:lnTo>
                    <a:pt x="74637" y="7277100"/>
                  </a:lnTo>
                  <a:lnTo>
                    <a:pt x="82588" y="7327900"/>
                  </a:lnTo>
                  <a:lnTo>
                    <a:pt x="90932" y="7378700"/>
                  </a:lnTo>
                  <a:lnTo>
                    <a:pt x="99669" y="7429500"/>
                  </a:lnTo>
                  <a:lnTo>
                    <a:pt x="108788" y="7480300"/>
                  </a:lnTo>
                  <a:lnTo>
                    <a:pt x="118300" y="7531100"/>
                  </a:lnTo>
                  <a:lnTo>
                    <a:pt x="128193" y="7581900"/>
                  </a:lnTo>
                  <a:lnTo>
                    <a:pt x="138468" y="7632700"/>
                  </a:lnTo>
                  <a:lnTo>
                    <a:pt x="149123" y="7683500"/>
                  </a:lnTo>
                  <a:lnTo>
                    <a:pt x="160159" y="7721600"/>
                  </a:lnTo>
                  <a:lnTo>
                    <a:pt x="171577" y="7772400"/>
                  </a:lnTo>
                  <a:lnTo>
                    <a:pt x="183375" y="7823200"/>
                  </a:lnTo>
                  <a:lnTo>
                    <a:pt x="195541" y="7874000"/>
                  </a:lnTo>
                  <a:lnTo>
                    <a:pt x="208089" y="7924800"/>
                  </a:lnTo>
                  <a:lnTo>
                    <a:pt x="220992" y="7975600"/>
                  </a:lnTo>
                  <a:lnTo>
                    <a:pt x="234276" y="8013700"/>
                  </a:lnTo>
                  <a:lnTo>
                    <a:pt x="247929" y="8064500"/>
                  </a:lnTo>
                  <a:lnTo>
                    <a:pt x="261950" y="8115300"/>
                  </a:lnTo>
                  <a:lnTo>
                    <a:pt x="276339" y="8166100"/>
                  </a:lnTo>
                  <a:lnTo>
                    <a:pt x="291084" y="8204200"/>
                  </a:lnTo>
                  <a:lnTo>
                    <a:pt x="306197" y="8255000"/>
                  </a:lnTo>
                  <a:lnTo>
                    <a:pt x="321665" y="8305800"/>
                  </a:lnTo>
                  <a:lnTo>
                    <a:pt x="337489" y="8343900"/>
                  </a:lnTo>
                  <a:lnTo>
                    <a:pt x="353682" y="8394700"/>
                  </a:lnTo>
                  <a:lnTo>
                    <a:pt x="370217" y="8445500"/>
                  </a:lnTo>
                  <a:lnTo>
                    <a:pt x="387121" y="8483600"/>
                  </a:lnTo>
                  <a:lnTo>
                    <a:pt x="404368" y="8534400"/>
                  </a:lnTo>
                  <a:lnTo>
                    <a:pt x="421957" y="8585200"/>
                  </a:lnTo>
                  <a:lnTo>
                    <a:pt x="439915" y="8623300"/>
                  </a:lnTo>
                  <a:lnTo>
                    <a:pt x="458203" y="8674100"/>
                  </a:lnTo>
                  <a:lnTo>
                    <a:pt x="476846" y="8724900"/>
                  </a:lnTo>
                  <a:lnTo>
                    <a:pt x="495833" y="8763000"/>
                  </a:lnTo>
                  <a:lnTo>
                    <a:pt x="515162" y="8813800"/>
                  </a:lnTo>
                  <a:lnTo>
                    <a:pt x="534822" y="8851900"/>
                  </a:lnTo>
                  <a:lnTo>
                    <a:pt x="554837" y="8902700"/>
                  </a:lnTo>
                  <a:lnTo>
                    <a:pt x="575183" y="8940800"/>
                  </a:lnTo>
                  <a:lnTo>
                    <a:pt x="595858" y="8991600"/>
                  </a:lnTo>
                  <a:lnTo>
                    <a:pt x="616877" y="9029700"/>
                  </a:lnTo>
                  <a:lnTo>
                    <a:pt x="638225" y="9080500"/>
                  </a:lnTo>
                  <a:lnTo>
                    <a:pt x="659904" y="9118600"/>
                  </a:lnTo>
                  <a:lnTo>
                    <a:pt x="681913" y="9169400"/>
                  </a:lnTo>
                  <a:lnTo>
                    <a:pt x="704253" y="9207500"/>
                  </a:lnTo>
                  <a:lnTo>
                    <a:pt x="726909" y="9245600"/>
                  </a:lnTo>
                  <a:lnTo>
                    <a:pt x="749909" y="9296400"/>
                  </a:lnTo>
                  <a:lnTo>
                    <a:pt x="773214" y="9334500"/>
                  </a:lnTo>
                  <a:lnTo>
                    <a:pt x="796848" y="9385300"/>
                  </a:lnTo>
                  <a:lnTo>
                    <a:pt x="820801" y="9423400"/>
                  </a:lnTo>
                  <a:lnTo>
                    <a:pt x="845070" y="9461500"/>
                  </a:lnTo>
                  <a:lnTo>
                    <a:pt x="869657" y="9512300"/>
                  </a:lnTo>
                  <a:lnTo>
                    <a:pt x="894562" y="9550400"/>
                  </a:lnTo>
                  <a:lnTo>
                    <a:pt x="919772" y="9588500"/>
                  </a:lnTo>
                  <a:lnTo>
                    <a:pt x="945299" y="9626600"/>
                  </a:lnTo>
                  <a:lnTo>
                    <a:pt x="971143" y="9677400"/>
                  </a:lnTo>
                  <a:lnTo>
                    <a:pt x="997280" y="9715500"/>
                  </a:lnTo>
                  <a:lnTo>
                    <a:pt x="1023734" y="9753600"/>
                  </a:lnTo>
                  <a:lnTo>
                    <a:pt x="1050493" y="9791700"/>
                  </a:lnTo>
                  <a:lnTo>
                    <a:pt x="11568240" y="9791700"/>
                  </a:lnTo>
                  <a:lnTo>
                    <a:pt x="11594998" y="9753600"/>
                  </a:lnTo>
                  <a:lnTo>
                    <a:pt x="11621453" y="9715500"/>
                  </a:lnTo>
                  <a:lnTo>
                    <a:pt x="11647589" y="9677400"/>
                  </a:lnTo>
                  <a:lnTo>
                    <a:pt x="11673434" y="9626600"/>
                  </a:lnTo>
                  <a:lnTo>
                    <a:pt x="11698961" y="9588500"/>
                  </a:lnTo>
                  <a:lnTo>
                    <a:pt x="11724170" y="9550400"/>
                  </a:lnTo>
                  <a:lnTo>
                    <a:pt x="11749075" y="9512300"/>
                  </a:lnTo>
                  <a:lnTo>
                    <a:pt x="11773662" y="9461500"/>
                  </a:lnTo>
                  <a:lnTo>
                    <a:pt x="11797932" y="9423400"/>
                  </a:lnTo>
                  <a:lnTo>
                    <a:pt x="11821884" y="9385300"/>
                  </a:lnTo>
                  <a:lnTo>
                    <a:pt x="11845519" y="9334500"/>
                  </a:lnTo>
                  <a:lnTo>
                    <a:pt x="11868823" y="9296400"/>
                  </a:lnTo>
                  <a:lnTo>
                    <a:pt x="11891823" y="9245600"/>
                  </a:lnTo>
                  <a:lnTo>
                    <a:pt x="11914480" y="9207500"/>
                  </a:lnTo>
                  <a:lnTo>
                    <a:pt x="11936819" y="9169400"/>
                  </a:lnTo>
                  <a:lnTo>
                    <a:pt x="11958828" y="9118600"/>
                  </a:lnTo>
                  <a:lnTo>
                    <a:pt x="11980507" y="9080500"/>
                  </a:lnTo>
                  <a:lnTo>
                    <a:pt x="12001856" y="9029700"/>
                  </a:lnTo>
                  <a:lnTo>
                    <a:pt x="12022874" y="8991600"/>
                  </a:lnTo>
                  <a:lnTo>
                    <a:pt x="12043550" y="8940800"/>
                  </a:lnTo>
                  <a:lnTo>
                    <a:pt x="12063895" y="8902700"/>
                  </a:lnTo>
                  <a:lnTo>
                    <a:pt x="12083910" y="8851900"/>
                  </a:lnTo>
                  <a:lnTo>
                    <a:pt x="12103570" y="8813800"/>
                  </a:lnTo>
                  <a:lnTo>
                    <a:pt x="12122899" y="8763000"/>
                  </a:lnTo>
                  <a:lnTo>
                    <a:pt x="12141886" y="8724900"/>
                  </a:lnTo>
                  <a:lnTo>
                    <a:pt x="12160529" y="8674100"/>
                  </a:lnTo>
                  <a:lnTo>
                    <a:pt x="12178817" y="8623300"/>
                  </a:lnTo>
                  <a:lnTo>
                    <a:pt x="12196763" y="8585200"/>
                  </a:lnTo>
                  <a:lnTo>
                    <a:pt x="12214365" y="8534400"/>
                  </a:lnTo>
                  <a:lnTo>
                    <a:pt x="12231611" y="8483600"/>
                  </a:lnTo>
                  <a:lnTo>
                    <a:pt x="12248515" y="8445500"/>
                  </a:lnTo>
                  <a:lnTo>
                    <a:pt x="12265050" y="8394700"/>
                  </a:lnTo>
                  <a:lnTo>
                    <a:pt x="12281243" y="8343900"/>
                  </a:lnTo>
                  <a:lnTo>
                    <a:pt x="12297067" y="8305800"/>
                  </a:lnTo>
                  <a:lnTo>
                    <a:pt x="12312536" y="8255000"/>
                  </a:lnTo>
                  <a:lnTo>
                    <a:pt x="12327649" y="8204200"/>
                  </a:lnTo>
                  <a:lnTo>
                    <a:pt x="12342393" y="8166100"/>
                  </a:lnTo>
                  <a:lnTo>
                    <a:pt x="12356783" y="8115300"/>
                  </a:lnTo>
                  <a:lnTo>
                    <a:pt x="12370803" y="8064500"/>
                  </a:lnTo>
                  <a:lnTo>
                    <a:pt x="12384456" y="8013700"/>
                  </a:lnTo>
                  <a:lnTo>
                    <a:pt x="12397740" y="7975600"/>
                  </a:lnTo>
                  <a:lnTo>
                    <a:pt x="12410643" y="7924800"/>
                  </a:lnTo>
                  <a:lnTo>
                    <a:pt x="12423191" y="7874000"/>
                  </a:lnTo>
                  <a:lnTo>
                    <a:pt x="12435357" y="7823200"/>
                  </a:lnTo>
                  <a:lnTo>
                    <a:pt x="12447156" y="7772400"/>
                  </a:lnTo>
                  <a:lnTo>
                    <a:pt x="12458573" y="7721600"/>
                  </a:lnTo>
                  <a:lnTo>
                    <a:pt x="12469609" y="7683500"/>
                  </a:lnTo>
                  <a:lnTo>
                    <a:pt x="12480265" y="7632700"/>
                  </a:lnTo>
                  <a:lnTo>
                    <a:pt x="12490539" y="7581900"/>
                  </a:lnTo>
                  <a:lnTo>
                    <a:pt x="12500432" y="7531100"/>
                  </a:lnTo>
                  <a:lnTo>
                    <a:pt x="12509945" y="7480300"/>
                  </a:lnTo>
                  <a:lnTo>
                    <a:pt x="12519063" y="7429500"/>
                  </a:lnTo>
                  <a:lnTo>
                    <a:pt x="12527801" y="7378700"/>
                  </a:lnTo>
                  <a:lnTo>
                    <a:pt x="12536145" y="7327900"/>
                  </a:lnTo>
                  <a:lnTo>
                    <a:pt x="12544095" y="7277100"/>
                  </a:lnTo>
                  <a:lnTo>
                    <a:pt x="12551664" y="7226300"/>
                  </a:lnTo>
                  <a:lnTo>
                    <a:pt x="12558827" y="7175500"/>
                  </a:lnTo>
                  <a:lnTo>
                    <a:pt x="12565596" y="7124700"/>
                  </a:lnTo>
                  <a:lnTo>
                    <a:pt x="12571971" y="7073900"/>
                  </a:lnTo>
                  <a:lnTo>
                    <a:pt x="12577940" y="7023100"/>
                  </a:lnTo>
                  <a:lnTo>
                    <a:pt x="12583516" y="6972300"/>
                  </a:lnTo>
                  <a:lnTo>
                    <a:pt x="12588685" y="6921500"/>
                  </a:lnTo>
                  <a:lnTo>
                    <a:pt x="12593447" y="6870700"/>
                  </a:lnTo>
                  <a:lnTo>
                    <a:pt x="12597816" y="6819900"/>
                  </a:lnTo>
                  <a:lnTo>
                    <a:pt x="12601766" y="6769100"/>
                  </a:lnTo>
                  <a:lnTo>
                    <a:pt x="12605309" y="6718300"/>
                  </a:lnTo>
                  <a:lnTo>
                    <a:pt x="12608433" y="6667500"/>
                  </a:lnTo>
                  <a:lnTo>
                    <a:pt x="12611164" y="6616700"/>
                  </a:lnTo>
                  <a:lnTo>
                    <a:pt x="12613462" y="6565900"/>
                  </a:lnTo>
                  <a:lnTo>
                    <a:pt x="12615355" y="6515100"/>
                  </a:lnTo>
                  <a:lnTo>
                    <a:pt x="12616828" y="6464300"/>
                  </a:lnTo>
                  <a:lnTo>
                    <a:pt x="12617882" y="6413500"/>
                  </a:lnTo>
                  <a:lnTo>
                    <a:pt x="12618517" y="6362700"/>
                  </a:lnTo>
                  <a:lnTo>
                    <a:pt x="12618720" y="6311900"/>
                  </a:lnTo>
                  <a:close/>
                </a:path>
              </a:pathLst>
            </a:custGeom>
            <a:solidFill>
              <a:srgbClr val="F5C4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65641" y="2029968"/>
              <a:ext cx="1152143" cy="115214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318753" y="5692139"/>
              <a:ext cx="1645920" cy="82550"/>
            </a:xfrm>
            <a:custGeom>
              <a:avLst/>
              <a:gdLst/>
              <a:ahLst/>
              <a:cxnLst/>
              <a:rect l="l" t="t" r="r" b="b"/>
              <a:pathLst>
                <a:path w="1645920" h="82550">
                  <a:moveTo>
                    <a:pt x="1645920" y="82296"/>
                  </a:moveTo>
                  <a:lnTo>
                    <a:pt x="0" y="82296"/>
                  </a:lnTo>
                  <a:lnTo>
                    <a:pt x="0" y="0"/>
                  </a:lnTo>
                  <a:lnTo>
                    <a:pt x="1645920" y="0"/>
                  </a:lnTo>
                  <a:lnTo>
                    <a:pt x="1645920" y="82296"/>
                  </a:lnTo>
                  <a:close/>
                </a:path>
              </a:pathLst>
            </a:custGeom>
            <a:solidFill>
              <a:srgbClr val="F5C4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6199980" y="4380229"/>
            <a:ext cx="5883910" cy="1496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6600" dirty="0">
                <a:solidFill>
                  <a:srgbClr val="FFFFFF"/>
                </a:solidFill>
              </a:rPr>
              <a:t>Thank</a:t>
            </a:r>
            <a:r>
              <a:rPr sz="6600" spc="-195" dirty="0">
                <a:solidFill>
                  <a:srgbClr val="FFFFFF"/>
                </a:solidFill>
              </a:rPr>
              <a:t> </a:t>
            </a:r>
            <a:r>
              <a:rPr sz="6600" spc="-25" dirty="0">
                <a:solidFill>
                  <a:srgbClr val="FFFFFF"/>
                </a:solidFill>
              </a:rPr>
              <a:t>You</a:t>
            </a:r>
            <a:endParaRPr sz="6600"/>
          </a:p>
          <a:p>
            <a:pPr algn="ctr">
              <a:lnSpc>
                <a:spcPct val="100000"/>
              </a:lnSpc>
              <a:spcBef>
                <a:spcPts val="1505"/>
              </a:spcBef>
            </a:pPr>
            <a:r>
              <a:rPr sz="1800" b="0" dirty="0">
                <a:solidFill>
                  <a:srgbClr val="3C1F5D"/>
                </a:solidFill>
                <a:latin typeface="Arial MT"/>
                <a:cs typeface="Arial MT"/>
              </a:rPr>
              <a:t>Department of Artificial Intelligence and Machine </a:t>
            </a:r>
            <a:r>
              <a:rPr sz="1800" b="0" spc="-10" dirty="0">
                <a:solidFill>
                  <a:srgbClr val="3C1F5D"/>
                </a:solidFill>
                <a:latin typeface="Arial MT"/>
                <a:cs typeface="Arial MT"/>
              </a:rPr>
              <a:t>Learning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310</TotalTime>
  <Words>680</Words>
  <Application>Microsoft Office PowerPoint</Application>
  <PresentationFormat>Custom</PresentationFormat>
  <Paragraphs>120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Arial MT</vt:lpstr>
      <vt:lpstr>Calibri</vt:lpstr>
      <vt:lpstr>Times New Roman</vt:lpstr>
      <vt:lpstr>Office Theme</vt:lpstr>
      <vt:lpstr>AGENTTRADE: A BULL-BEAR DEBATE DRIVEN MULTI-AGENT FRAMEWORK FOR STOCK ANALYSIS AND RISK-CONTROLLED PAPER TRADING</vt:lpstr>
      <vt:lpstr>PowerPoint Presentation</vt:lpstr>
      <vt:lpstr>User and Stakeholder Analysis</vt:lpstr>
      <vt:lpstr>Proposed System: Analysis Pipeline</vt:lpstr>
      <vt:lpstr>System Architecture: Tiered View</vt:lpstr>
      <vt:lpstr>8</vt:lpstr>
      <vt:lpstr>6</vt:lpstr>
      <vt:lpstr>PowerPoint Presentation</vt:lpstr>
      <vt:lpstr>TOOLS AND TECHNOLOGIES USED</vt:lpstr>
      <vt:lpstr>Performance &amp; Success Metrics</vt:lpstr>
      <vt:lpstr>Scalability &amp; Real-World</vt:lpstr>
      <vt:lpstr>Result</vt:lpstr>
      <vt:lpstr>Result</vt:lpstr>
      <vt:lpstr>CONCLUSION</vt:lpstr>
      <vt:lpstr>Thank You Department of Artificial Intelligence and Machine Learning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 AUTOGEN.pptx</dc:title>
  <dc:creator>LAKSHIYA SRI K M 231501082</dc:creator>
  <cp:keywords>DAHW6ij8Gy4,BAGOlWZhx5I</cp:keywords>
  <cp:lastModifiedBy>sandhiya s</cp:lastModifiedBy>
  <cp:revision>9</cp:revision>
  <dcterms:created xsi:type="dcterms:W3CDTF">2026-10-05T12:52:21Z</dcterms:created>
  <dcterms:modified xsi:type="dcterms:W3CDTF">2026-10-05T18:11:42Z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2026-10-05T00:00:00Z</vt:filetime>
  </property>
  <property fmtid="{D5CDD505-2E9C-101B-9397-08002B2CF9AE}" pid="4" name="Creator">
    <vt:lpwstr>Canva</vt:lpwstr>
  </property>
  <property fmtid="{D5CDD505-2E9C-101B-9397-08002B2CF9AE}" pid="5" name="LastSaved">
    <vt:filetime>2026-10-05T00:00:00Z</vt:filetime>
  </property>
  <property fmtid="{D5CDD505-2E9C-101B-9397-08002B2CF9AE}" pid="6" name="Producer">
    <vt:lpwstr>Canva</vt:lpwstr>
  </property>
</Properties>
</file>